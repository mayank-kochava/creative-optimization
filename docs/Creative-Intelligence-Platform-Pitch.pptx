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B9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81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ADD8"/>
                </a:solidFill>
              </a:rPr>
              <a:t>KOCHAVA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Creative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C4E8"/>
                </a:solidFill>
              </a:rPr>
              <a:t>AI-powered creative analysis · Fatigue detection · Duplicate deduplication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A8AC8"/>
                </a:solidFill>
              </a:rPr>
              <a:t>Executive Preview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75B5E"/>
                </a:solidFill>
              </a:rPr>
              <a:t>Advertisers are flying blind on creative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73152" cy="73152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9222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B1C"/>
                </a:solidFill>
              </a:rPr>
              <a:t>💸  Up to 40% of ad spend goes to creatives that are fatigued or already running elsewhere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73152" cy="73152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B1C"/>
                </a:solidFill>
              </a:rPr>
              <a:t>🙈  No visibility into WHY a creative performs or fails — just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45536"/>
            <a:ext cx="73152" cy="73152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B1C"/>
                </a:solidFill>
              </a:rPr>
              <a:t>🔁  Same creative resized and re-uploaded across platforms, diluting budgets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03904"/>
            <a:ext cx="73152" cy="73152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673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B1C"/>
                </a:solidFill>
              </a:rPr>
              <a:t>⏱  Performance data arrives days after spend decisions are made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62272"/>
            <a:ext cx="73152" cy="73152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25696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B1C"/>
                </a:solidFill>
              </a:rPr>
              <a:t>🔒  Every competitor's solution requires their own attribution 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75B5E"/>
                </a:solidFill>
              </a:rPr>
              <a:t>Three capabilities — deployable in 7 days, runs 100% on-premise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5661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566160" cy="594360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 AI Creative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B1C"/>
                </a:solidFill>
              </a:rPr>
              <a:t>7-dimension analysis (0-10): Hook, CTA, Visual, Message,
Emotion, Social Proof, Brand.
Natural language explanation + bounding-box annotation.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5661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2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594360"/>
          </a:xfrm>
          <a:prstGeom prst="rect">
            <a:avLst/>
          </a:prstGeom>
          <a:solidFill>
            <a:srgbClr val="42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🔎  Duplicate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B1C"/>
                </a:solidFill>
              </a:rPr>
              <a:t>pHash fingerprinting detects resized/recolored variants
across platforms before they waste budget.
Hamming distance threshold configurable.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5661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BE2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566160" cy="594360"/>
          </a:xfrm>
          <a:prstGeom prst="rect">
            <a:avLst/>
          </a:prstGeom>
          <a:solidFill>
            <a:srgbClr val="BE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📉  Fatigue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B1C"/>
                </a:solidFill>
              </a:rPr>
              <a:t>Flags creatives with &gt;20% WoW CTR decline.
Per-creative fatigue badge in dashboard.
Prevents dead creatives from burning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011680" cy="2194560"/>
          </a:xfrm>
          <a:prstGeom prst="rect">
            <a:avLst/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488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Ad Networks
(Meta · Google
 TikTok · Snap)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011680"/>
            <a:ext cx="2011680" cy="21945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1488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Ingest + Store
(FastAPI · S3
 PostgreSQL)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2011680"/>
            <a:ext cx="2011680" cy="2194560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1488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Creative Intelligence
Engine
(Qwen2.5-VL 7B)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011680"/>
            <a:ext cx="2011680" cy="21945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1488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Dashboard
(Next.js 14
 React 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011680"/>
            <a:ext cx="2011680" cy="2194560"/>
          </a:xfrm>
          <a:prstGeom prst="rect">
            <a:avLst/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1488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Kochava
Attribution
(MMP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4B97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4B97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4B97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4B97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C72EE"/>
                </a:solidFill>
              </a:rPr>
              <a:t>⟵ Phase 2: Closed-Loop Optimization (recommendations back to ad networks)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75B5E"/>
                </a:solidFill>
              </a:rPr>
              <a:t>F1: Content Classification   F2: Visual Analysis + Annotation   F3: Deduplication + Fatigue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5394960"/>
            <a:ext cx="3017520" cy="411480"/>
          </a:xfrm>
          <a:prstGeom prst="rect">
            <a:avLst/>
          </a:prstGeom>
          <a:solidFill>
            <a:srgbClr val="F4F6FA"/>
          </a:solidFill>
          <a:ln w="19050">
            <a:solidFill>
              <a:srgbClr val="42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413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7900"/>
                </a:solidFill>
              </a:rPr>
              <a:t>🔒  Runs 100% on-premise via Ollama — no data leaves your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371600"/>
            <a:ext cx="2926080" cy="420624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1435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371600"/>
            <a:ext cx="1463040" cy="420624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27832" y="1435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AppsFlyer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71600"/>
            <a:ext cx="1463040" cy="420624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435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Singular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1463040" cy="420624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435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Segwise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1463040" cy="420624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435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VidMob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371600"/>
            <a:ext cx="1645920" cy="420624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3560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Kochava 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792224"/>
            <a:ext cx="292608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186537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AI Scoring (0–10)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1792224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7832" y="18653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792224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18653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792224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18653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792224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18653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792224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1865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212848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228600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Natural Language Why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22128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7832" y="228600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2128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28600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2128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228600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22128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228600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212848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992" y="22860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633472"/>
            <a:ext cx="292608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" y="27066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Bounding-Box Annotation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633472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27832" y="27066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633472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27066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2633472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3912" y="27066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800" y="2633472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27066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2633472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2" y="27066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054096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" y="31272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Duplicate Detection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305409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27832" y="31272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305409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0872" y="31272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305409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53912" y="31272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305409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16952" y="31272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3054096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9992" y="31272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474720"/>
            <a:ext cx="292608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" y="35478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Video Frame Analysis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54680" y="3474720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27832" y="3547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3474720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90872" y="3547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72EE"/>
                </a:solidFill>
              </a:rPr>
              <a:t>partial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3474720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3912" y="3547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43800" y="3474720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16952" y="3547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3474720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9992" y="35478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3895344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1752" y="39684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On-Premise Model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54680" y="389534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27832" y="3968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389534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90872" y="3968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389534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53912" y="3968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3800" y="389534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16952" y="3968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06840" y="3895344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79992" y="396849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4315968"/>
            <a:ext cx="292608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" y="438912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No MMP SDK Required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54680" y="4315968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27832" y="43891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17720" y="4315968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90872" y="43891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80760" y="4315968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53912" y="43891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43800" y="4315968"/>
            <a:ext cx="1463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16952" y="43891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06840" y="4315968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79992" y="43891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7900"/>
                </a:solidFill>
              </a:rPr>
              <a:t>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4736592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1752" y="48097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B1C"/>
                </a:solidFill>
              </a:rPr>
              <a:t>Closed-Loop Optimization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54680" y="473659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27832" y="48097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17720" y="473659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90872" y="48097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80760" y="473659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53912" y="48097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43800" y="473659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16952" y="48097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202E"/>
                </a:solidFill>
              </a:rPr>
              <a:t>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006840" y="4736592"/>
            <a:ext cx="1645920" cy="420624"/>
          </a:xfrm>
          <a:prstGeom prst="rect">
            <a:avLst/>
          </a:prstGeom>
          <a:solidFill>
            <a:srgbClr val="EEF6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079992" y="48097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C72EE"/>
                </a:solidFill>
              </a:rPr>
              <a:t>Ph2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Kochava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🔓  No MMP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Works standalone — customers can use alongside any MMP. Every competitor requires their own SDK.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46304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🎯  Visual 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Bounding boxes on face / text / CTA with confidence scores. No competitor shows what the AI sees.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46304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🔍  Duplicate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pHash fingerprinting catches resized variants across platforms before they dilute budget.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💬  Natural Language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Score + paragraph explanation in plain English. Analysts want 'show your work,' not just a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84048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🔒  On-Premise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26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Qwen2.5-VL via Ollama — creative assets never leave customer environment. Enterprise/regulated friendly.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3840480"/>
            <a:ext cx="374903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7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B97"/>
                </a:solidFill>
              </a:rPr>
              <a:t>🔄  Closed-Loop (Phase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26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75B5E"/>
                </a:solidFill>
              </a:rPr>
              <a:t>Recommendations flow back to ad networks. No competitor can act — Kochava 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B9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C7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C4E8"/>
                </a:solidFill>
              </a:rPr>
              <a:t>Live demo available — runs locally on M4 Pro 24GB, no cloud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AI creative scoring (7 dimensions)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Bounding-box annotation overlay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Duplicate detection (pHash)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Fatigue detection per creative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KPI dashboard (CTR, CVR, CPI, ROAS)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  Performance comparison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72EE"/>
                </a:solidFill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Expand to 17 AI scoring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Slack/webhook fatigue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Asset library + smart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Google Drive / Dropbox upload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Closed-Loop Optimization (Phase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E8"/>
                </a:solidFill>
              </a:rPr>
              <a:t>→  Productize for customer self-serve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