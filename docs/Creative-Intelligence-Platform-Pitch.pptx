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B9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813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AADD8"/>
                </a:solidFill>
              </a:rPr>
              <a:t>KOCHAVA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Creative Intelligence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A8C4E8"/>
                </a:solidFill>
              </a:rPr>
              <a:t>AI-powered creative analysis · Fatigue detection · Duplicate deduplication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A8AC8"/>
                </a:solidFill>
              </a:rPr>
              <a:t>Executive Preview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75B5E"/>
                </a:solidFill>
              </a:rPr>
              <a:t>Advertisers are flying blind on creative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73152" cy="73152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92224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B1C"/>
                </a:solidFill>
              </a:rPr>
              <a:t>💸  Up to 40% of ad spend goes to creatives that are fatigued or already running elsewhere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73152" cy="73152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5059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B1C"/>
                </a:solidFill>
              </a:rPr>
              <a:t>🙈  No visibility into WHY a creative performs or fails — just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45536"/>
            <a:ext cx="73152" cy="73152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B1C"/>
                </a:solidFill>
              </a:rPr>
              <a:t>🔁  Same creative resized and re-uploaded across platforms, diluting budgets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03904"/>
            <a:ext cx="73152" cy="73152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67328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B1C"/>
                </a:solidFill>
              </a:rPr>
              <a:t>⏱  Performance data arrives days after spend decisions are made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62272"/>
            <a:ext cx="73152" cy="73152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25696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B1C"/>
                </a:solidFill>
              </a:rPr>
              <a:t>🔒  Every competitor's solution requires their own attribution SDK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75B5E"/>
                </a:solidFill>
              </a:rPr>
              <a:t>Three capabilities — deployable in 7 days, runs 100% on-premise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356616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3566160" cy="594360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🔍  AI Creative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3246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B1C"/>
                </a:solidFill>
              </a:rPr>
              <a:t>7-dimension analysis (0-10): Hook, CTA, Visual, Message,
Emotion, Social Proof, Brand.
Natural language explanation + bounding-box 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20240"/>
            <a:ext cx="356616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42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920240"/>
            <a:ext cx="3566160" cy="594360"/>
          </a:xfrm>
          <a:prstGeom prst="rect">
            <a:avLst/>
          </a:prstGeom>
          <a:solidFill>
            <a:srgbClr val="427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🔎  Duplicate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60"/>
            <a:ext cx="3246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B1C"/>
                </a:solidFill>
              </a:rPr>
              <a:t>pHash fingerprinting detects resized/recolored variants
across platforms before they waste budget.
Hamming distance threshold configurable.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920240"/>
            <a:ext cx="356616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BE2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920240"/>
            <a:ext cx="3566160" cy="594360"/>
          </a:xfrm>
          <a:prstGeom prst="rect">
            <a:avLst/>
          </a:prstGeom>
          <a:solidFill>
            <a:srgbClr val="BE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📉  Fatigue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51760"/>
            <a:ext cx="3246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1B1C"/>
                </a:solidFill>
              </a:rPr>
              <a:t>Flags creatives with &gt;20% WoW CTR decline.
Per-creative fatigue badge in dashboard.
Prevents dead creatives from burning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11680"/>
            <a:ext cx="2011680" cy="2194560"/>
          </a:xfrm>
          <a:prstGeom prst="rect">
            <a:avLst/>
          </a:prstGeom>
          <a:solidFill>
            <a:srgbClr val="0F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148840"/>
            <a:ext cx="1828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Ad Networks
(Meta · Google
 TikTok · Snap)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2011680"/>
            <a:ext cx="2011680" cy="21945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2148840"/>
            <a:ext cx="1828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Ingest + Store
(FastAPI · S3
 PostgreSQL)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2011680"/>
            <a:ext cx="2011680" cy="2194560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83480" y="2148840"/>
            <a:ext cx="1828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Creative Intelligence
Engine
(Qwen2.5-VL 7B)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011680"/>
            <a:ext cx="2011680" cy="21945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148840"/>
            <a:ext cx="1828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Dashboard
(Next.js 14
 React 18)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011680"/>
            <a:ext cx="2011680" cy="2194560"/>
          </a:xfrm>
          <a:prstGeom prst="rect">
            <a:avLst/>
          </a:prstGeom>
          <a:solidFill>
            <a:srgbClr val="0F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148840"/>
            <a:ext cx="1828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Kochava
Attribution
(MMP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4B97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4B97"/>
                </a:solidFill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4B97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7432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4B97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C72EE"/>
                </a:solidFill>
              </a:rPr>
              <a:t>⟵ Phase 2: Closed-Loop Optimization (recommendations back to ad networks)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983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75B5E"/>
                </a:solidFill>
              </a:rPr>
              <a:t>F1: Content Classification   F2: Visual Analysis + Annotation   F3: Deduplication + Fatigue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5394960"/>
            <a:ext cx="3017520" cy="411480"/>
          </a:xfrm>
          <a:prstGeom prst="rect">
            <a:avLst/>
          </a:prstGeom>
          <a:solidFill>
            <a:srgbClr val="F4F6FA"/>
          </a:solidFill>
          <a:ln w="19050">
            <a:solidFill>
              <a:srgbClr val="42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3440" y="54132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27900"/>
                </a:solidFill>
              </a:rPr>
              <a:t>🔒  Runs 100% on-premise via Ollama — no data leaves your environment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8C4E8"/>
                </a:solidFill>
              </a:rPr>
              <a:t>AppsFlyer has element analysis + similarity grouping — not pHash. No competitor has annotation, NL explanation, or on-premise.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371600"/>
            <a:ext cx="2926080" cy="420624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43560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1463040" cy="420624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27832" y="14356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AppsFlyer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720" y="1371600"/>
            <a:ext cx="1463040" cy="420624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4356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Singular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371600"/>
            <a:ext cx="1463040" cy="420624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53912" y="14356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Segwise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371600"/>
            <a:ext cx="1463040" cy="420624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16952" y="14356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VidMob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371600"/>
            <a:ext cx="1645920" cy="420624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4356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Kochava 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1792224"/>
            <a:ext cx="292608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1865376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AI Scoring (0–10)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1792224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27832" y="18653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1792224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653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792224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18653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43800" y="1792224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16952" y="18653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792224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9992" y="1865376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2212848"/>
            <a:ext cx="2926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1752" y="228600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Natural Language 'Why'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54680" y="2212848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27832" y="228600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2212848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90872" y="228600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2212848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228600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43800" y="2212848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16952" y="228600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2212848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9992" y="2286000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" y="2633472"/>
            <a:ext cx="292608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1752" y="270662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Bounding-Box Annotation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54680" y="2633472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27832" y="270662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17720" y="2633472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90872" y="270662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2633472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3912" y="270662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2633472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16952" y="270662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2633472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9992" y="2706624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3054096"/>
            <a:ext cx="2926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1752" y="3127248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pHash Duplicate Detection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54680" y="3054096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27832" y="31272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17720" y="3054096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90872" y="31272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3054096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53912" y="31272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43800" y="3054096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16952" y="31272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06840" y="3054096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79992" y="312724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" y="3474720"/>
            <a:ext cx="292608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1752" y="354787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Video Frame Analysis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54680" y="3474720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27832" y="354787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C72EE"/>
                </a:solidFill>
              </a:rPr>
              <a:t>partial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17720" y="3474720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90872" y="354787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C72EE"/>
                </a:solidFill>
              </a:rPr>
              <a:t>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80760" y="3474720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53912" y="354787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3474720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16952" y="354787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06840" y="3474720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9992" y="3547872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8600" y="3895344"/>
            <a:ext cx="2926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1752" y="3968496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On-Premise / Local Model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54680" y="3895344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227832" y="3968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17720" y="3895344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90872" y="3968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080760" y="3895344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53912" y="3968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543800" y="3895344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16952" y="39684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006840" y="3895344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79992" y="3968496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" y="4315968"/>
            <a:ext cx="292608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01752" y="4389120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No SDK / MMP Required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154680" y="4315968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227832" y="43891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4315968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90872" y="43891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080760" y="4315968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153912" y="43891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543800" y="4315968"/>
            <a:ext cx="1463040" cy="420624"/>
          </a:xfrm>
          <a:prstGeom prst="rect">
            <a:avLst/>
          </a:prstGeom>
          <a:solidFill>
            <a:srgbClr val="F4F6FA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616952" y="438912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6840" y="4315968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079992" y="4389120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427900"/>
                </a:solidFill>
              </a:rPr>
              <a:t>✅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28600" y="4736592"/>
            <a:ext cx="2926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01752" y="4809744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B1C"/>
                </a:solidFill>
              </a:rPr>
              <a:t>Closed-Loop Optimization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154680" y="4736592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227832" y="480974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617720" y="4736592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690872" y="480974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080760" y="4736592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53912" y="480974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543800" y="4736592"/>
            <a:ext cx="146304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616952" y="480974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E202E"/>
                </a:solidFill>
              </a:rPr>
              <a:t>❌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006840" y="4736592"/>
            <a:ext cx="1645920" cy="420624"/>
          </a:xfrm>
          <a:prstGeom prst="rect">
            <a:avLst/>
          </a:prstGeom>
          <a:solidFill>
            <a:srgbClr val="EEF6FF"/>
          </a:solidFill>
          <a:ln w="635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079992" y="4809744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C72EE"/>
                </a:solidFill>
              </a:rPr>
              <a:t>Ph2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Kochava Differentiators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463040"/>
            <a:ext cx="3749039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B97"/>
                </a:solidFill>
              </a:rPr>
              <a:t>🔓  No MMP Lock-in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75B5E"/>
                </a:solidFill>
              </a:rPr>
              <a:t>Works standalone — customers can use alongside any MMP. Every competitor requires their own SDK.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463040"/>
            <a:ext cx="3749039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6459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B97"/>
                </a:solidFill>
              </a:rPr>
              <a:t>🎯  Visual Annotation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4884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75B5E"/>
                </a:solidFill>
              </a:rPr>
              <a:t>Bounding boxes on face / text / CTA with confidence scores. No competitor shows what the AI sees.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1463040"/>
            <a:ext cx="3749039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6459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B97"/>
                </a:solidFill>
              </a:rPr>
              <a:t>🔍  Duplicate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14884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75B5E"/>
                </a:solidFill>
              </a:rPr>
              <a:t>pHash fingerprinting catches resized variants across platforms before they dilute budget.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3749039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B97"/>
                </a:solidFill>
              </a:rPr>
              <a:t>💬  Natural Language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5262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75B5E"/>
                </a:solidFill>
              </a:rPr>
              <a:t>Score + paragraph explanation in plain English. Analysts want 'show your work,' not just a number.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840480"/>
            <a:ext cx="3749039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023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B97"/>
                </a:solidFill>
              </a:rPr>
              <a:t>🔒  On-Premise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5262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75B5E"/>
                </a:solidFill>
              </a:rPr>
              <a:t>Qwen2.5-VL via Ollama — creative assets never leave customer environment. Enterprise/regulated friendly.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80" y="3840480"/>
            <a:ext cx="3749039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C7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4023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B97"/>
                </a:solidFill>
              </a:rPr>
              <a:t>🔄  Closed-Loop (Phase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52628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75B5E"/>
                </a:solidFill>
              </a:rPr>
              <a:t>Recommendations flow back to ad networks. No competitor can act — Kochava can.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B9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C7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Demo +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8C4E8"/>
                </a:solidFill>
              </a:rPr>
              <a:t>Live demo available — runs locally on M4 Pro 24GB, no cloud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✅  AI creative scoring (7 dimensions)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✅  Bounding-box annotation overlay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✅  Duplicate detection (pHash)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✅  Fatigue detection per creative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✅  KPI dashboard (CTR, CVR, CPI, ROAS)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83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✅  Performance comparison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72EE"/>
                </a:solidFill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E8"/>
                </a:solidFill>
              </a:rPr>
              <a:t>→  Expand to 17 AI scoring dimensions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88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E8"/>
                </a:solidFill>
              </a:rPr>
              <a:t>→  Slack/webhook fatigue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3832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E8"/>
                </a:solidFill>
              </a:rPr>
              <a:t>→  Asset library + smart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9776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E8"/>
                </a:solidFill>
              </a:rPr>
              <a:t>→  Google Drive / Dropbox upload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5720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E8"/>
                </a:solidFill>
              </a:rPr>
              <a:t>→  Closed-Loop Optimization (Phase 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1663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E8"/>
                </a:solidFill>
              </a:rPr>
              <a:t>→  Productize for customer self-serve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