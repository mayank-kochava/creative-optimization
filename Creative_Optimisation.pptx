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Quattrocento Sans"/>
      <p:regular r:id="rId29"/>
      <p:bold r:id="rId30"/>
      <p:italic r:id="rId31"/>
      <p:boldItalic r:id="rId32"/>
    </p:embeddedFont>
    <p:embeddedFont>
      <p:font typeface="Century Gothic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italic.fntdata"/><Relationship Id="rId30" Type="http://schemas.openxmlformats.org/officeDocument/2006/relationships/font" Target="fonts/QuattrocentoSans-bold.fntdata"/><Relationship Id="rId11" Type="http://schemas.openxmlformats.org/officeDocument/2006/relationships/slide" Target="slides/slide5.xml"/><Relationship Id="rId33" Type="http://schemas.openxmlformats.org/officeDocument/2006/relationships/font" Target="fonts/CenturyGothic-regular.fntdata"/><Relationship Id="rId10" Type="http://schemas.openxmlformats.org/officeDocument/2006/relationships/slide" Target="slides/slide4.xml"/><Relationship Id="rId32" Type="http://schemas.openxmlformats.org/officeDocument/2006/relationships/font" Target="fonts/QuattrocentoSans-boldItalic.fntdata"/><Relationship Id="rId13" Type="http://schemas.openxmlformats.org/officeDocument/2006/relationships/slide" Target="slides/slide7.xml"/><Relationship Id="rId35" Type="http://schemas.openxmlformats.org/officeDocument/2006/relationships/font" Target="fonts/CenturyGothic-italic.fntdata"/><Relationship Id="rId12" Type="http://schemas.openxmlformats.org/officeDocument/2006/relationships/slide" Target="slides/slide6.xml"/><Relationship Id="rId34" Type="http://schemas.openxmlformats.org/officeDocument/2006/relationships/font" Target="fonts/CenturyGothic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CenturyGothic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7b11d60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e7b11d60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7b11d60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7b11d60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7b11d600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e7b11d600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7b11d600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7b11d600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7b11d600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e7b11d600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7b11d600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7b11d600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7b11d600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7b11d60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7b11d600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_Slide">
  <p:cSld name="2_1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71632" y="2051542"/>
            <a:ext cx="4198542" cy="152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Line-Diag">
  <p:cSld name="1-Line-Diag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48509" y="474139"/>
            <a:ext cx="8033265" cy="34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549274" y="919847"/>
            <a:ext cx="8032478" cy="179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5964" y="4850415"/>
            <a:ext cx="935035" cy="115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62345"/>
          </a:xfrm>
          <a:prstGeom prst="rect">
            <a:avLst/>
          </a:prstGeom>
          <a:gradFill>
            <a:gsLst>
              <a:gs pos="0">
                <a:srgbClr val="004CAA"/>
              </a:gs>
              <a:gs pos="100000">
                <a:srgbClr val="00175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_Slide">
  <p:cSld name="1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08612" y="2329838"/>
            <a:ext cx="7326776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5978" y="1804297"/>
            <a:ext cx="1912045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Title_Slide">
  <p:cSld name="2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747777" y="2192678"/>
            <a:ext cx="5648446" cy="137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5978" y="1804297"/>
            <a:ext cx="1912045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Title_Slide">
  <p:cSld name="3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79676" y="2329838"/>
            <a:ext cx="7326776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879676" y="2882722"/>
            <a:ext cx="732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5978" y="1804297"/>
            <a:ext cx="1912045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-Title_Slide">
  <p:cSld name="5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715473" y="2139768"/>
            <a:ext cx="5208608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9" name="Google Shape;29;p7"/>
          <p:cNvCxnSpPr/>
          <p:nvPr/>
        </p:nvCxnSpPr>
        <p:spPr>
          <a:xfrm>
            <a:off x="3437681" y="2048720"/>
            <a:ext cx="0" cy="62090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9673" y="2265053"/>
            <a:ext cx="1837063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-Title_Slide">
  <p:cSld name="1_1-Title_Slide"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idx="1" type="body"/>
          </p:nvPr>
        </p:nvSpPr>
        <p:spPr>
          <a:xfrm>
            <a:off x="908612" y="2329838"/>
            <a:ext cx="7326776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Title_Slide">
  <p:cSld name="1_2-Title_Slide">
    <p:bg>
      <p:bgPr>
        <a:gradFill>
          <a:gsLst>
            <a:gs pos="0">
              <a:srgbClr val="FF735C"/>
            </a:gs>
            <a:gs pos="100000">
              <a:srgbClr val="FF34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747777" y="2192678"/>
            <a:ext cx="5648446" cy="137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5978" y="1804297"/>
            <a:ext cx="1912045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Title_Slide">
  <p:cSld name="1_3-Title_Slide">
    <p:bg>
      <p:bgPr>
        <a:gradFill>
          <a:gsLst>
            <a:gs pos="0">
              <a:srgbClr val="FF735C"/>
            </a:gs>
            <a:gs pos="100000">
              <a:srgbClr val="FF34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879676" y="2329838"/>
            <a:ext cx="7326776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879676" y="2882722"/>
            <a:ext cx="732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5978" y="1804297"/>
            <a:ext cx="1912045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-Title_Slide">
  <p:cSld name="1_5-Title_Slide">
    <p:bg>
      <p:bgPr>
        <a:gradFill>
          <a:gsLst>
            <a:gs pos="0">
              <a:srgbClr val="FF735C"/>
            </a:gs>
            <a:gs pos="100000">
              <a:srgbClr val="FF34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3715473" y="2139768"/>
            <a:ext cx="5208608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2" name="Google Shape;42;p11"/>
          <p:cNvCxnSpPr/>
          <p:nvPr/>
        </p:nvCxnSpPr>
        <p:spPr>
          <a:xfrm>
            <a:off x="3437681" y="2048720"/>
            <a:ext cx="0" cy="62090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" name="Google Shape;4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9673" y="2265053"/>
            <a:ext cx="1837063" cy="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-Title_Slide">
  <p:cSld name="2_1-Title_Slide 2">
    <p:bg>
      <p:bgPr>
        <a:gradFill>
          <a:gsLst>
            <a:gs pos="0">
              <a:srgbClr val="FF735C"/>
            </a:gs>
            <a:gs pos="100000">
              <a:srgbClr val="FF34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908612" y="2329838"/>
            <a:ext cx="7326776" cy="4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Line-Diag">
  <p:cSld name="1-Line-Diag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549274" y="919847"/>
            <a:ext cx="80325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454545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54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5964" y="4850415"/>
            <a:ext cx="935035" cy="11556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5"/>
          <p:cNvSpPr/>
          <p:nvPr/>
        </p:nvSpPr>
        <p:spPr>
          <a:xfrm>
            <a:off x="0" y="0"/>
            <a:ext cx="9144000" cy="62400"/>
          </a:xfrm>
          <a:prstGeom prst="rect">
            <a:avLst/>
          </a:prstGeom>
          <a:gradFill>
            <a:gsLst>
              <a:gs pos="0">
                <a:srgbClr val="004CAA"/>
              </a:gs>
              <a:gs pos="100000">
                <a:srgbClr val="00175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560069" y="760379"/>
            <a:ext cx="3921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245681" y="217144"/>
            <a:ext cx="2661000" cy="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45681" y="1174253"/>
            <a:ext cx="2661000" cy="2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3223762" y="237263"/>
            <a:ext cx="3383100" cy="338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upport.appsflyer.com/hc/en-us/articles/18564718580625-Creative-Optimization-guide?utm_source=chatgpt.com" TargetMode="External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/>
        </p:nvSpPr>
        <p:spPr>
          <a:xfrm>
            <a:off x="640080" y="77724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Creative Optimization Platform</a:t>
            </a:r>
            <a:endParaRPr/>
          </a:p>
        </p:txBody>
      </p:sp>
      <p:sp>
        <p:nvSpPr>
          <p:cNvPr id="108" name="Google Shape;108;p29"/>
          <p:cNvSpPr txBox="1"/>
          <p:nvPr/>
        </p:nvSpPr>
        <p:spPr>
          <a:xfrm>
            <a:off x="640080" y="1874519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Automated Creative Intelligence for Mobile Marketing</a:t>
            </a:r>
            <a:endParaRPr/>
          </a:p>
        </p:txBody>
      </p:sp>
      <p:sp>
        <p:nvSpPr>
          <p:cNvPr id="109" name="Google Shape;109;p29"/>
          <p:cNvSpPr txBox="1"/>
          <p:nvPr/>
        </p:nvSpPr>
        <p:spPr>
          <a:xfrm>
            <a:off x="640080" y="2560320"/>
            <a:ext cx="5029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9"/>
          <p:cNvSpPr txBox="1"/>
          <p:nvPr/>
        </p:nvSpPr>
        <p:spPr>
          <a:xfrm>
            <a:off x="640080" y="26974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Platform Overview  |  </a:t>
            </a:r>
            <a:r>
              <a:rPr lang="en-US" sz="1500">
                <a:solidFill>
                  <a:srgbClr val="BDD7EE"/>
                </a:solidFill>
              </a:rPr>
              <a:t>May</a:t>
            </a:r>
            <a:r>
              <a:rPr b="0" i="0" lang="en-US" sz="15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116" name="Google Shape;116;p30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0"/>
          <p:cNvSpPr txBox="1"/>
          <p:nvPr/>
        </p:nvSpPr>
        <p:spPr>
          <a:xfrm>
            <a:off x="249811" y="1158106"/>
            <a:ext cx="2795047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mobile app company (e.g. a game, fintech app, e-commerce app) wants to acquire users, they run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paid ads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platforms like Facebook, Google, TikTok,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ad has a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creative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the actual image, video, or banner the user sees. A company might have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hundreds or thousands of creatives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running simultaneously across multiple platforms.</a:t>
            </a:r>
            <a:endParaRPr/>
          </a:p>
        </p:txBody>
      </p:sp>
      <p:sp>
        <p:nvSpPr>
          <p:cNvPr id="118" name="Google Shape;118;p30"/>
          <p:cNvSpPr/>
          <p:nvPr/>
        </p:nvSpPr>
        <p:spPr>
          <a:xfrm rot="5400000">
            <a:off x="1635032" y="2715108"/>
            <a:ext cx="3404113" cy="433633"/>
          </a:xfrm>
          <a:prstGeom prst="triangle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0"/>
          <p:cNvSpPr txBox="1"/>
          <p:nvPr/>
        </p:nvSpPr>
        <p:spPr>
          <a:xfrm>
            <a:off x="3784862" y="1692484"/>
            <a:ext cx="4572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creative is performing best?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we wasting money showing the same creative twice (just slightly resized)?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does a creative "burn out" and stop working?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automatically shift budget to the best-performing creative?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/>
          <p:nvPr>
            <p:ph type="title"/>
          </p:nvPr>
        </p:nvSpPr>
        <p:spPr>
          <a:xfrm>
            <a:off x="548509" y="474139"/>
            <a:ext cx="8033265" cy="34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9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25" name="Google Shape;1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04" y="103695"/>
            <a:ext cx="8778711" cy="503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/>
        </p:nvSpPr>
        <p:spPr>
          <a:xfrm>
            <a:off x="320040" y="2240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Issues Mobile Marketers Face with Creatives</a:t>
            </a:r>
            <a:endParaRPr b="1" i="0" sz="26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2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2"/>
          <p:cNvSpPr txBox="1"/>
          <p:nvPr/>
        </p:nvSpPr>
        <p:spPr>
          <a:xfrm>
            <a:off x="320040" y="120700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2"/>
          <p:cNvSpPr txBox="1"/>
          <p:nvPr/>
        </p:nvSpPr>
        <p:spPr>
          <a:xfrm>
            <a:off x="320040" y="1207008"/>
            <a:ext cx="425196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2"/>
          <p:cNvSpPr txBox="1"/>
          <p:nvPr/>
        </p:nvSpPr>
        <p:spPr>
          <a:xfrm>
            <a:off x="457200" y="12984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Data Silos</a:t>
            </a:r>
            <a:endParaRPr/>
          </a:p>
        </p:txBody>
      </p:sp>
      <p:sp>
        <p:nvSpPr>
          <p:cNvPr id="135" name="Google Shape;135;p32"/>
          <p:cNvSpPr txBox="1"/>
          <p:nvPr/>
        </p:nvSpPr>
        <p:spPr>
          <a:xfrm>
            <a:off x="457200" y="177393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Performance data lives in Facebook,</a:t>
            </a:r>
            <a:endParaRPr/>
          </a:p>
        </p:txBody>
      </p:sp>
      <p:sp>
        <p:nvSpPr>
          <p:cNvPr id="136" name="Google Shape;136;p32"/>
          <p:cNvSpPr txBox="1"/>
          <p:nvPr/>
        </p:nvSpPr>
        <p:spPr>
          <a:xfrm>
            <a:off x="457200" y="22128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Google, TikTok — no single view</a:t>
            </a:r>
            <a:endParaRPr/>
          </a:p>
        </p:txBody>
      </p:sp>
      <p:sp>
        <p:nvSpPr>
          <p:cNvPr id="137" name="Google Shape;137;p32"/>
          <p:cNvSpPr txBox="1"/>
          <p:nvPr/>
        </p:nvSpPr>
        <p:spPr>
          <a:xfrm>
            <a:off x="4754879" y="120700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4754879" y="1207008"/>
            <a:ext cx="425196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2"/>
          <p:cNvSpPr txBox="1"/>
          <p:nvPr/>
        </p:nvSpPr>
        <p:spPr>
          <a:xfrm>
            <a:off x="4892040" y="12984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Duplicate Creatives</a:t>
            </a:r>
            <a:endParaRPr/>
          </a:p>
        </p:txBody>
      </p:sp>
      <p:sp>
        <p:nvSpPr>
          <p:cNvPr id="140" name="Google Shape;140;p32"/>
          <p:cNvSpPr txBox="1"/>
          <p:nvPr/>
        </p:nvSpPr>
        <p:spPr>
          <a:xfrm>
            <a:off x="4892040" y="177393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Same video uploaded 10× across</a:t>
            </a:r>
            <a:endParaRPr/>
          </a:p>
        </p:txBody>
      </p:sp>
      <p:sp>
        <p:nvSpPr>
          <p:cNvPr id="141" name="Google Shape;141;p32"/>
          <p:cNvSpPr txBox="1"/>
          <p:nvPr/>
        </p:nvSpPr>
        <p:spPr>
          <a:xfrm>
            <a:off x="4892040" y="22128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platforms — fragmented data</a:t>
            </a:r>
            <a:endParaRPr/>
          </a:p>
        </p:txBody>
      </p:sp>
      <p:sp>
        <p:nvSpPr>
          <p:cNvPr id="142" name="Google Shape;142;p32"/>
          <p:cNvSpPr txBox="1"/>
          <p:nvPr/>
        </p:nvSpPr>
        <p:spPr>
          <a:xfrm>
            <a:off x="320040" y="312724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2"/>
          <p:cNvSpPr txBox="1"/>
          <p:nvPr/>
        </p:nvSpPr>
        <p:spPr>
          <a:xfrm>
            <a:off x="320040" y="3127248"/>
            <a:ext cx="425196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457200" y="321868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Slow A/B Testing</a:t>
            </a:r>
            <a:endParaRPr/>
          </a:p>
        </p:txBody>
      </p:sp>
      <p:sp>
        <p:nvSpPr>
          <p:cNvPr id="145" name="Google Shape;145;p32"/>
          <p:cNvSpPr txBox="1"/>
          <p:nvPr/>
        </p:nvSpPr>
        <p:spPr>
          <a:xfrm>
            <a:off x="457200" y="369417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Traditional 50/50 splits take weeks,</a:t>
            </a:r>
            <a:endParaRPr/>
          </a:p>
        </p:txBody>
      </p:sp>
      <p:sp>
        <p:nvSpPr>
          <p:cNvPr id="146" name="Google Shape;146;p32"/>
          <p:cNvSpPr txBox="1"/>
          <p:nvPr/>
        </p:nvSpPr>
        <p:spPr>
          <a:xfrm>
            <a:off x="457200" y="4133087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wasting budget on the losing creative</a:t>
            </a:r>
            <a:endParaRPr/>
          </a:p>
        </p:txBody>
      </p:sp>
      <p:sp>
        <p:nvSpPr>
          <p:cNvPr id="147" name="Google Shape;147;p32"/>
          <p:cNvSpPr txBox="1"/>
          <p:nvPr/>
        </p:nvSpPr>
        <p:spPr>
          <a:xfrm>
            <a:off x="4754879" y="312724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4754879" y="3127248"/>
            <a:ext cx="425196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4892040" y="321868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Creative Fatigue</a:t>
            </a:r>
            <a:endParaRPr/>
          </a:p>
        </p:txBody>
      </p:sp>
      <p:sp>
        <p:nvSpPr>
          <p:cNvPr id="150" name="Google Shape;150;p32"/>
          <p:cNvSpPr txBox="1"/>
          <p:nvPr/>
        </p:nvSpPr>
        <p:spPr>
          <a:xfrm>
            <a:off x="4892040" y="369417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No automated signal when a creative</a:t>
            </a:r>
            <a:endParaRPr/>
          </a:p>
        </p:txBody>
      </p:sp>
      <p:sp>
        <p:nvSpPr>
          <p:cNvPr id="151" name="Google Shape;151;p32"/>
          <p:cNvSpPr txBox="1"/>
          <p:nvPr/>
        </p:nvSpPr>
        <p:spPr>
          <a:xfrm>
            <a:off x="4892040" y="4133087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burns out — teams react too late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/>
          </a:p>
        </p:txBody>
      </p:sp>
      <p:sp>
        <p:nvSpPr>
          <p:cNvPr id="157" name="Google Shape;157;p33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320040" y="71323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One platform: ingest, deduplicate, and auto-optimise</a:t>
            </a:r>
            <a:endParaRPr/>
          </a:p>
        </p:txBody>
      </p:sp>
      <p:sp>
        <p:nvSpPr>
          <p:cNvPr id="159" name="Google Shape;159;p33"/>
          <p:cNvSpPr txBox="1"/>
          <p:nvPr/>
        </p:nvSpPr>
        <p:spPr>
          <a:xfrm>
            <a:off x="320040" y="120700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320040" y="1207008"/>
            <a:ext cx="425196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57200" y="12984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ACC6"/>
                </a:solidFill>
                <a:latin typeface="Arial"/>
                <a:ea typeface="Arial"/>
                <a:cs typeface="Arial"/>
                <a:sym typeface="Arial"/>
              </a:rPr>
              <a:t>Unified Ingestion</a:t>
            </a:r>
            <a:endParaRPr/>
          </a:p>
        </p:txBody>
      </p:sp>
      <p:sp>
        <p:nvSpPr>
          <p:cNvPr id="162" name="Google Shape;162;p33"/>
          <p:cNvSpPr txBox="1"/>
          <p:nvPr/>
        </p:nvSpPr>
        <p:spPr>
          <a:xfrm>
            <a:off x="457200" y="177393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Facebook, Google, TikTok, AppsFlyer</a:t>
            </a:r>
            <a:endParaRPr/>
          </a:p>
        </p:txBody>
      </p:sp>
      <p:sp>
        <p:nvSpPr>
          <p:cNvPr id="163" name="Google Shape;163;p33"/>
          <p:cNvSpPr txBox="1"/>
          <p:nvPr/>
        </p:nvSpPr>
        <p:spPr>
          <a:xfrm>
            <a:off x="457200" y="22128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all in one data store</a:t>
            </a:r>
            <a:endParaRPr/>
          </a:p>
        </p:txBody>
      </p:sp>
      <p:sp>
        <p:nvSpPr>
          <p:cNvPr id="164" name="Google Shape;164;p33"/>
          <p:cNvSpPr txBox="1"/>
          <p:nvPr/>
        </p:nvSpPr>
        <p:spPr>
          <a:xfrm>
            <a:off x="4754879" y="120700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4754879" y="1207008"/>
            <a:ext cx="425196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4892040" y="12984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Smart Deduplication</a:t>
            </a: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4892040" y="177393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pHash fingerprints every creative —</a:t>
            </a:r>
            <a:endParaRPr/>
          </a:p>
        </p:txBody>
      </p:sp>
      <p:sp>
        <p:nvSpPr>
          <p:cNvPr id="168" name="Google Shape;168;p33"/>
          <p:cNvSpPr txBox="1"/>
          <p:nvPr/>
        </p:nvSpPr>
        <p:spPr>
          <a:xfrm>
            <a:off x="4892040" y="221284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detects duplicates across platforms</a:t>
            </a:r>
            <a:endParaRPr/>
          </a:p>
        </p:txBody>
      </p:sp>
      <p:sp>
        <p:nvSpPr>
          <p:cNvPr id="169" name="Google Shape;169;p33"/>
          <p:cNvSpPr txBox="1"/>
          <p:nvPr/>
        </p:nvSpPr>
        <p:spPr>
          <a:xfrm>
            <a:off x="320040" y="312724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320040" y="3127248"/>
            <a:ext cx="425196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457200" y="321868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ACC6"/>
                </a:solidFill>
                <a:latin typeface="Arial"/>
                <a:ea typeface="Arial"/>
                <a:cs typeface="Arial"/>
                <a:sym typeface="Arial"/>
              </a:rPr>
              <a:t>Auto-Optimisation</a:t>
            </a:r>
            <a:endParaRPr/>
          </a:p>
        </p:txBody>
      </p:sp>
      <p:sp>
        <p:nvSpPr>
          <p:cNvPr id="172" name="Google Shape;172;p33"/>
          <p:cNvSpPr txBox="1"/>
          <p:nvPr/>
        </p:nvSpPr>
        <p:spPr>
          <a:xfrm>
            <a:off x="457200" y="369417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Thompson Sampling MAB shifts traffic</a:t>
            </a:r>
            <a:endParaRPr/>
          </a:p>
        </p:txBody>
      </p:sp>
      <p:sp>
        <p:nvSpPr>
          <p:cNvPr id="173" name="Google Shape;173;p33"/>
          <p:cNvSpPr txBox="1"/>
          <p:nvPr/>
        </p:nvSpPr>
        <p:spPr>
          <a:xfrm>
            <a:off x="457200" y="4133087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to the best creative in real time</a:t>
            </a:r>
            <a:endParaRPr/>
          </a:p>
        </p:txBody>
      </p:sp>
      <p:sp>
        <p:nvSpPr>
          <p:cNvPr id="174" name="Google Shape;174;p33"/>
          <p:cNvSpPr txBox="1"/>
          <p:nvPr/>
        </p:nvSpPr>
        <p:spPr>
          <a:xfrm>
            <a:off x="4754879" y="3127248"/>
            <a:ext cx="4251960" cy="179222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4754879" y="3127248"/>
            <a:ext cx="425196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4892040" y="3218688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Fatigue Detection</a:t>
            </a:r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4892040" y="3694176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&gt;20% WoW decline auto-flagged —</a:t>
            </a:r>
            <a:endParaRPr/>
          </a:p>
        </p:txBody>
      </p:sp>
      <p:sp>
        <p:nvSpPr>
          <p:cNvPr id="178" name="Google Shape;178;p33"/>
          <p:cNvSpPr txBox="1"/>
          <p:nvPr/>
        </p:nvSpPr>
        <p:spPr>
          <a:xfrm>
            <a:off x="4892040" y="4133087"/>
            <a:ext cx="3977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no manual monitoring needed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Platform Architecture</a:t>
            </a:r>
            <a:endParaRPr/>
          </a:p>
        </p:txBody>
      </p:sp>
      <p:sp>
        <p:nvSpPr>
          <p:cNvPr id="184" name="Google Shape;184;p34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4"/>
          <p:cNvSpPr txBox="1"/>
          <p:nvPr/>
        </p:nvSpPr>
        <p:spPr>
          <a:xfrm>
            <a:off x="320040" y="749808"/>
            <a:ext cx="164592" cy="5852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4"/>
          <p:cNvSpPr txBox="1"/>
          <p:nvPr/>
        </p:nvSpPr>
        <p:spPr>
          <a:xfrm>
            <a:off x="530352" y="749808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4"/>
          <p:cNvSpPr txBox="1"/>
          <p:nvPr/>
        </p:nvSpPr>
        <p:spPr>
          <a:xfrm>
            <a:off x="713232" y="804671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/>
          </a:p>
        </p:txBody>
      </p:sp>
      <p:sp>
        <p:nvSpPr>
          <p:cNvPr id="188" name="Google Shape;188;p34"/>
          <p:cNvSpPr txBox="1"/>
          <p:nvPr/>
        </p:nvSpPr>
        <p:spPr>
          <a:xfrm>
            <a:off x="3429000" y="877824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Facebook  •  Google Ads  •  TikTok  •  AppsFlyer</a:t>
            </a:r>
            <a:endParaRPr/>
          </a:p>
        </p:txBody>
      </p:sp>
      <p:sp>
        <p:nvSpPr>
          <p:cNvPr id="189" name="Google Shape;189;p34"/>
          <p:cNvSpPr txBox="1"/>
          <p:nvPr/>
        </p:nvSpPr>
        <p:spPr>
          <a:xfrm>
            <a:off x="320040" y="1426464"/>
            <a:ext cx="164592" cy="585216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4"/>
          <p:cNvSpPr txBox="1"/>
          <p:nvPr/>
        </p:nvSpPr>
        <p:spPr>
          <a:xfrm>
            <a:off x="530352" y="1426464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4"/>
          <p:cNvSpPr txBox="1"/>
          <p:nvPr/>
        </p:nvSpPr>
        <p:spPr>
          <a:xfrm>
            <a:off x="713232" y="14813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064A2"/>
                </a:solidFill>
                <a:latin typeface="Arial"/>
                <a:ea typeface="Arial"/>
                <a:cs typeface="Arial"/>
                <a:sym typeface="Arial"/>
              </a:rPr>
              <a:t>Stream Processing</a:t>
            </a:r>
            <a:endParaRPr/>
          </a:p>
        </p:txBody>
      </p:sp>
      <p:sp>
        <p:nvSpPr>
          <p:cNvPr id="192" name="Google Shape;192;p34"/>
          <p:cNvSpPr txBox="1"/>
          <p:nvPr/>
        </p:nvSpPr>
        <p:spPr>
          <a:xfrm>
            <a:off x="3429000" y="1554480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Kafka / Kinesis  →  Event Enrichment  →  Geo &amp; Device tagging</a:t>
            </a:r>
            <a:endParaRPr/>
          </a:p>
        </p:txBody>
      </p:sp>
      <p:sp>
        <p:nvSpPr>
          <p:cNvPr id="193" name="Google Shape;193;p34"/>
          <p:cNvSpPr txBox="1"/>
          <p:nvPr/>
        </p:nvSpPr>
        <p:spPr>
          <a:xfrm>
            <a:off x="320040" y="2103120"/>
            <a:ext cx="164592" cy="585216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4"/>
          <p:cNvSpPr txBox="1"/>
          <p:nvPr/>
        </p:nvSpPr>
        <p:spPr>
          <a:xfrm>
            <a:off x="530352" y="2103120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713232" y="215798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BB59"/>
                </a:solidFill>
                <a:latin typeface="Arial"/>
                <a:ea typeface="Arial"/>
                <a:cs typeface="Arial"/>
                <a:sym typeface="Arial"/>
              </a:rPr>
              <a:t>Canonicalization</a:t>
            </a:r>
            <a:endParaRPr/>
          </a:p>
        </p:txBody>
      </p:sp>
      <p:sp>
        <p:nvSpPr>
          <p:cNvPr id="196" name="Google Shape;196;p34"/>
          <p:cNvSpPr txBox="1"/>
          <p:nvPr/>
        </p:nvSpPr>
        <p:spPr>
          <a:xfrm>
            <a:off x="3429000" y="2231136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pHash  •  Video Hashing  •  Cross-platform Deduplication</a:t>
            </a:r>
            <a:endParaRPr/>
          </a:p>
        </p:txBody>
      </p:sp>
      <p:sp>
        <p:nvSpPr>
          <p:cNvPr id="197" name="Google Shape;197;p34"/>
          <p:cNvSpPr txBox="1"/>
          <p:nvPr/>
        </p:nvSpPr>
        <p:spPr>
          <a:xfrm>
            <a:off x="320040" y="2779775"/>
            <a:ext cx="164592" cy="585216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530352" y="2779775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713232" y="2834639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9646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/>
          </a:p>
        </p:txBody>
      </p:sp>
      <p:sp>
        <p:nvSpPr>
          <p:cNvPr id="200" name="Google Shape;200;p34"/>
          <p:cNvSpPr txBox="1"/>
          <p:nvPr/>
        </p:nvSpPr>
        <p:spPr>
          <a:xfrm>
            <a:off x="3429000" y="2907791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ResNet Vision  •  Tesseract OCR  •  BERT NLP</a:t>
            </a:r>
            <a:endParaRPr/>
          </a:p>
        </p:txBody>
      </p:sp>
      <p:sp>
        <p:nvSpPr>
          <p:cNvPr id="201" name="Google Shape;201;p34"/>
          <p:cNvSpPr txBox="1"/>
          <p:nvPr/>
        </p:nvSpPr>
        <p:spPr>
          <a:xfrm>
            <a:off x="320040" y="3456432"/>
            <a:ext cx="164592" cy="585216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530352" y="3456432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713232" y="351129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Attribution</a:t>
            </a:r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3429000" y="3584448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Impression  →  Click  →  Install  →  Revenue</a:t>
            </a:r>
            <a:endParaRPr/>
          </a:p>
        </p:txBody>
      </p:sp>
      <p:sp>
        <p:nvSpPr>
          <p:cNvPr id="205" name="Google Shape;205;p34"/>
          <p:cNvSpPr txBox="1"/>
          <p:nvPr/>
        </p:nvSpPr>
        <p:spPr>
          <a:xfrm>
            <a:off x="320040" y="4133088"/>
            <a:ext cx="164592" cy="585216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530352" y="4133088"/>
            <a:ext cx="8293608" cy="585216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713232" y="418795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ACC6"/>
                </a:solidFill>
                <a:latin typeface="Arial"/>
                <a:ea typeface="Arial"/>
                <a:cs typeface="Arial"/>
                <a:sym typeface="Arial"/>
              </a:rPr>
              <a:t>Experimentation + Analytics</a:t>
            </a:r>
            <a:endParaRPr/>
          </a:p>
        </p:txBody>
      </p:sp>
      <p:sp>
        <p:nvSpPr>
          <p:cNvPr id="208" name="Google Shape;208;p34"/>
          <p:cNvSpPr txBox="1"/>
          <p:nvPr/>
        </p:nvSpPr>
        <p:spPr>
          <a:xfrm>
            <a:off x="3429000" y="4261104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Thompson Sampling  •  A/B Tests  •  KPI Dashboards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Thompson Sampling — How It Works</a:t>
            </a:r>
            <a:endParaRPr/>
          </a:p>
        </p:txBody>
      </p:sp>
      <p:sp>
        <p:nvSpPr>
          <p:cNvPr id="214" name="Google Shape;214;p35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5"/>
          <p:cNvSpPr txBox="1"/>
          <p:nvPr/>
        </p:nvSpPr>
        <p:spPr>
          <a:xfrm>
            <a:off x="320040" y="71323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Bayesian Multi-Armed Bandit for real-time creative optimisation</a:t>
            </a:r>
            <a:endParaRPr/>
          </a:p>
        </p:txBody>
      </p:sp>
      <p:sp>
        <p:nvSpPr>
          <p:cNvPr id="216" name="Google Shape;216;p35"/>
          <p:cNvSpPr txBox="1"/>
          <p:nvPr/>
        </p:nvSpPr>
        <p:spPr>
          <a:xfrm>
            <a:off x="320040" y="1115568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2121408" y="1115568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438912" y="121615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1  Equal Start</a:t>
            </a:r>
            <a:endParaRPr/>
          </a:p>
        </p:txBody>
      </p:sp>
      <p:sp>
        <p:nvSpPr>
          <p:cNvPr id="219" name="Google Shape;219;p35"/>
          <p:cNvSpPr txBox="1"/>
          <p:nvPr/>
        </p:nvSpPr>
        <p:spPr>
          <a:xfrm>
            <a:off x="2240280" y="1216152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Every creative starts with Beta(1,1) — no prior bias.</a:t>
            </a:r>
            <a:endParaRPr/>
          </a:p>
        </p:txBody>
      </p:sp>
      <p:sp>
        <p:nvSpPr>
          <p:cNvPr id="220" name="Google Shape;220;p35"/>
          <p:cNvSpPr txBox="1"/>
          <p:nvPr/>
        </p:nvSpPr>
        <p:spPr>
          <a:xfrm>
            <a:off x="320040" y="1719072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2121408" y="1719072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5"/>
          <p:cNvSpPr txBox="1"/>
          <p:nvPr/>
        </p:nvSpPr>
        <p:spPr>
          <a:xfrm>
            <a:off x="438912" y="18196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2  Sample</a:t>
            </a:r>
            <a:endParaRPr/>
          </a:p>
        </p:txBody>
      </p:sp>
      <p:sp>
        <p:nvSpPr>
          <p:cNvPr id="223" name="Google Shape;223;p35"/>
          <p:cNvSpPr txBox="1"/>
          <p:nvPr/>
        </p:nvSpPr>
        <p:spPr>
          <a:xfrm>
            <a:off x="2240280" y="1819656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For each request sample θ ~ Beta(α, β) per creative.</a:t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320040" y="2322576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2121408" y="2322576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438912" y="242316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3  Show Winner</a:t>
            </a:r>
            <a:endParaRPr/>
          </a:p>
        </p:txBody>
      </p:sp>
      <p:sp>
        <p:nvSpPr>
          <p:cNvPr id="227" name="Google Shape;227;p35"/>
          <p:cNvSpPr txBox="1"/>
          <p:nvPr/>
        </p:nvSpPr>
        <p:spPr>
          <a:xfrm>
            <a:off x="2240280" y="2423160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Serve the creative with the highest sampled θ value.</a:t>
            </a:r>
            <a:endParaRPr/>
          </a:p>
        </p:txBody>
      </p:sp>
      <p:sp>
        <p:nvSpPr>
          <p:cNvPr id="228" name="Google Shape;228;p35"/>
          <p:cNvSpPr txBox="1"/>
          <p:nvPr/>
        </p:nvSpPr>
        <p:spPr>
          <a:xfrm>
            <a:off x="320040" y="2926080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2121408" y="2926080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438912" y="302666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4  Observe</a:t>
            </a:r>
            <a:endParaRPr/>
          </a:p>
        </p:txBody>
      </p:sp>
      <p:sp>
        <p:nvSpPr>
          <p:cNvPr id="231" name="Google Shape;231;p35"/>
          <p:cNvSpPr txBox="1"/>
          <p:nvPr/>
        </p:nvSpPr>
        <p:spPr>
          <a:xfrm>
            <a:off x="2240280" y="3026664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Conversion? α += 1.   No conversion? β += 1.</a:t>
            </a: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320040" y="3529584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2121408" y="3529584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438912" y="363016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5  Learn</a:t>
            </a:r>
            <a:endParaRPr/>
          </a:p>
        </p:txBody>
      </p:sp>
      <p:sp>
        <p:nvSpPr>
          <p:cNvPr id="235" name="Google Shape;235;p35"/>
          <p:cNvSpPr txBox="1"/>
          <p:nvPr/>
        </p:nvSpPr>
        <p:spPr>
          <a:xfrm>
            <a:off x="2240280" y="3630168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Posterior narrows — model grows more confident.</a:t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320040" y="4133088"/>
            <a:ext cx="1737360" cy="512064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2121408" y="4133088"/>
            <a:ext cx="6675120" cy="51206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438912" y="423367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6  Auto-Allocate</a:t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2240280" y="4233672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Traffic concentrates on the winner automatically.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Thompson Sampling vs Traditional A/B Testing</a:t>
            </a:r>
            <a:endParaRPr/>
          </a:p>
        </p:txBody>
      </p:sp>
      <p:sp>
        <p:nvSpPr>
          <p:cNvPr id="245" name="Google Shape;245;p36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320040" y="749808"/>
            <a:ext cx="4206240" cy="416052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320040" y="749808"/>
            <a:ext cx="4206240" cy="54864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475488" y="86868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Multi-Armed Bandit (MAB)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475488" y="1426464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Convergence: 500–1,000 impressions</a:t>
            </a:r>
            <a:endParaRPr/>
          </a:p>
        </p:txBody>
      </p:sp>
      <p:sp>
        <p:nvSpPr>
          <p:cNvPr id="250" name="Google Shape;250;p36"/>
          <p:cNvSpPr txBox="1"/>
          <p:nvPr/>
        </p:nvSpPr>
        <p:spPr>
          <a:xfrm>
            <a:off x="475488" y="1920240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Traffic waste: ~10–15% only</a:t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475488" y="2414016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No manual action required</a:t>
            </a:r>
            <a:endParaRPr/>
          </a:p>
        </p:txBody>
      </p:sp>
      <p:sp>
        <p:nvSpPr>
          <p:cNvPr id="252" name="Google Shape;252;p36"/>
          <p:cNvSpPr txBox="1"/>
          <p:nvPr/>
        </p:nvSpPr>
        <p:spPr>
          <a:xfrm>
            <a:off x="475488" y="290779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Continuous real-time learning</a:t>
            </a:r>
            <a:endParaRPr/>
          </a:p>
        </p:txBody>
      </p:sp>
      <p:sp>
        <p:nvSpPr>
          <p:cNvPr id="253" name="Google Shape;253;p36"/>
          <p:cNvSpPr txBox="1"/>
          <p:nvPr/>
        </p:nvSpPr>
        <p:spPr>
          <a:xfrm>
            <a:off x="475488" y="3401568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+30–40% CVR vs. equal split</a:t>
            </a:r>
            <a:endParaRPr/>
          </a:p>
        </p:txBody>
      </p:sp>
      <p:sp>
        <p:nvSpPr>
          <p:cNvPr id="254" name="Google Shape;254;p36"/>
          <p:cNvSpPr txBox="1"/>
          <p:nvPr/>
        </p:nvSpPr>
        <p:spPr>
          <a:xfrm>
            <a:off x="475488" y="3895344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✓  No fixed sample size needed</a:t>
            </a: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4663440" y="749808"/>
            <a:ext cx="4206240" cy="416052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4663440" y="749808"/>
            <a:ext cx="4206240" cy="54864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4828032" y="86868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Traditional A/B Testing</a:t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4828032" y="1426464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Needs 10,000+ impressions</a:t>
            </a:r>
            <a:endParaRPr/>
          </a:p>
        </p:txBody>
      </p:sp>
      <p:sp>
        <p:nvSpPr>
          <p:cNvPr id="259" name="Google Shape;259;p36"/>
          <p:cNvSpPr txBox="1"/>
          <p:nvPr/>
        </p:nvSpPr>
        <p:spPr>
          <a:xfrm>
            <a:off x="4828032" y="1920240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Wastes ~50% traffic on loser</a:t>
            </a:r>
            <a:endParaRPr/>
          </a:p>
        </p:txBody>
      </p:sp>
      <p:sp>
        <p:nvSpPr>
          <p:cNvPr id="260" name="Google Shape;260;p36"/>
          <p:cNvSpPr txBox="1"/>
          <p:nvPr/>
        </p:nvSpPr>
        <p:spPr>
          <a:xfrm>
            <a:off x="4828032" y="2414016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Manual decision to pick winner</a:t>
            </a:r>
            <a:endParaRPr/>
          </a:p>
        </p:txBody>
      </p:sp>
      <p:sp>
        <p:nvSpPr>
          <p:cNvPr id="261" name="Google Shape;261;p36"/>
          <p:cNvSpPr txBox="1"/>
          <p:nvPr/>
        </p:nvSpPr>
        <p:spPr>
          <a:xfrm>
            <a:off x="4828032" y="2907792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Static — does not adapt mid-test</a:t>
            </a:r>
            <a:endParaRPr/>
          </a:p>
        </p:txBody>
      </p:sp>
      <p:sp>
        <p:nvSpPr>
          <p:cNvPr id="262" name="Google Shape;262;p36"/>
          <p:cNvSpPr txBox="1"/>
          <p:nvPr/>
        </p:nvSpPr>
        <p:spPr>
          <a:xfrm>
            <a:off x="4828032" y="3401568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Baseline CVR only</a:t>
            </a:r>
            <a:endParaRPr/>
          </a:p>
        </p:txBody>
      </p:sp>
      <p:sp>
        <p:nvSpPr>
          <p:cNvPr id="263" name="Google Shape;263;p36"/>
          <p:cNvSpPr txBox="1"/>
          <p:nvPr/>
        </p:nvSpPr>
        <p:spPr>
          <a:xfrm>
            <a:off x="4828032" y="3895344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✗  Requires pre-defined sample size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Creative Deduplication via Perceptual Hashing</a:t>
            </a:r>
            <a:endParaRPr/>
          </a:p>
        </p:txBody>
      </p:sp>
      <p:sp>
        <p:nvSpPr>
          <p:cNvPr id="269" name="Google Shape;269;p37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320040" y="71323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Same creative detected across any platform — even after compression or resizing</a:t>
            </a:r>
            <a:endParaRPr/>
          </a:p>
        </p:txBody>
      </p:sp>
      <p:sp>
        <p:nvSpPr>
          <p:cNvPr id="271" name="Google Shape;271;p37"/>
          <p:cNvSpPr txBox="1"/>
          <p:nvPr/>
        </p:nvSpPr>
        <p:spPr>
          <a:xfrm>
            <a:off x="320040" y="114300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320040" y="114300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502920" y="122529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Scale to 32×32</a:t>
            </a:r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502920" y="1691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Normalises resolution differences</a:t>
            </a:r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4754879" y="114300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4754879" y="114300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4937759" y="122529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Convert to greyscale</a:t>
            </a:r>
            <a:endParaRPr/>
          </a:p>
        </p:txBody>
      </p:sp>
      <p:sp>
        <p:nvSpPr>
          <p:cNvPr id="278" name="Google Shape;278;p37"/>
          <p:cNvSpPr txBox="1"/>
          <p:nvPr/>
        </p:nvSpPr>
        <p:spPr>
          <a:xfrm>
            <a:off x="4937759" y="1691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Removes colour variation noise</a:t>
            </a:r>
            <a:endParaRPr/>
          </a:p>
        </p:txBody>
      </p:sp>
      <p:sp>
        <p:nvSpPr>
          <p:cNvPr id="279" name="Google Shape;279;p37"/>
          <p:cNvSpPr txBox="1"/>
          <p:nvPr/>
        </p:nvSpPr>
        <p:spPr>
          <a:xfrm>
            <a:off x="320040" y="237744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320040" y="237744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502920" y="245973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Apply DCT</a:t>
            </a:r>
            <a:endParaRPr/>
          </a:p>
        </p:txBody>
      </p:sp>
      <p:sp>
        <p:nvSpPr>
          <p:cNvPr id="282" name="Google Shape;282;p37"/>
          <p:cNvSpPr txBox="1"/>
          <p:nvPr/>
        </p:nvSpPr>
        <p:spPr>
          <a:xfrm>
            <a:off x="502920" y="29260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Discrete Cosine Transform</a:t>
            </a:r>
            <a:endParaRPr/>
          </a:p>
        </p:txBody>
      </p:sp>
      <p:sp>
        <p:nvSpPr>
          <p:cNvPr id="283" name="Google Shape;283;p37"/>
          <p:cNvSpPr txBox="1"/>
          <p:nvPr/>
        </p:nvSpPr>
        <p:spPr>
          <a:xfrm>
            <a:off x="4754879" y="237744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4754879" y="237744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4937759" y="245973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Keep top-left 8×8</a:t>
            </a:r>
            <a:endParaRPr/>
          </a:p>
        </p:txBody>
      </p:sp>
      <p:sp>
        <p:nvSpPr>
          <p:cNvPr id="286" name="Google Shape;286;p37"/>
          <p:cNvSpPr txBox="1"/>
          <p:nvPr/>
        </p:nvSpPr>
        <p:spPr>
          <a:xfrm>
            <a:off x="4937759" y="29260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Stable low-frequency features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320040" y="361188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320040" y="361188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02920" y="369417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Binarise around median</a:t>
            </a:r>
            <a:endParaRPr/>
          </a:p>
        </p:txBody>
      </p:sp>
      <p:sp>
        <p:nvSpPr>
          <p:cNvPr id="290" name="Google Shape;290;p37"/>
          <p:cNvSpPr txBox="1"/>
          <p:nvPr/>
        </p:nvSpPr>
        <p:spPr>
          <a:xfrm>
            <a:off x="502920" y="4160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Produces 64-bit perceptual hash</a:t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4754879" y="3611880"/>
            <a:ext cx="4251960" cy="111556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4754879" y="3611880"/>
            <a:ext cx="64008" cy="111556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4937759" y="369417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Hamming distance &lt; 10</a:t>
            </a:r>
            <a:endParaRPr/>
          </a:p>
        </p:txBody>
      </p:sp>
      <p:sp>
        <p:nvSpPr>
          <p:cNvPr id="294" name="Google Shape;294;p37"/>
          <p:cNvSpPr txBox="1"/>
          <p:nvPr/>
        </p:nvSpPr>
        <p:spPr>
          <a:xfrm>
            <a:off x="4937759" y="4160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Within-10 hashes = duplicates</a:t>
            </a:r>
            <a:endParaRPr/>
          </a:p>
        </p:txBody>
      </p:sp>
      <p:sp>
        <p:nvSpPr>
          <p:cNvPr id="295" name="Google Shape;295;p37"/>
          <p:cNvSpPr txBox="1"/>
          <p:nvPr/>
        </p:nvSpPr>
        <p:spPr>
          <a:xfrm>
            <a:off x="320040" y="4809744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&lt; 1% collision rate  |  Resistant to watermarks, resizing &amp; re-compression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KPIs &amp; Analytics</a:t>
            </a:r>
            <a:endParaRPr/>
          </a:p>
        </p:txBody>
      </p:sp>
      <p:sp>
        <p:nvSpPr>
          <p:cNvPr id="301" name="Google Shape;301;p38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320040" y="713232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Track every creative end-to-end: impression → click → install → revenue</a:t>
            </a:r>
            <a:endParaRPr/>
          </a:p>
        </p:txBody>
      </p:sp>
      <p:sp>
        <p:nvSpPr>
          <p:cNvPr id="303" name="Google Shape;303;p38"/>
          <p:cNvSpPr txBox="1"/>
          <p:nvPr/>
        </p:nvSpPr>
        <p:spPr>
          <a:xfrm>
            <a:off x="320040" y="117043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320040" y="1170432"/>
            <a:ext cx="27432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484632" y="12618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/>
          </a:p>
        </p:txBody>
      </p:sp>
      <p:sp>
        <p:nvSpPr>
          <p:cNvPr id="306" name="Google Shape;306;p38"/>
          <p:cNvSpPr txBox="1"/>
          <p:nvPr/>
        </p:nvSpPr>
        <p:spPr>
          <a:xfrm>
            <a:off x="484632" y="192024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Clicks / Impressions</a:t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484632" y="243230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Engagement rate</a:t>
            </a:r>
            <a:endParaRPr/>
          </a:p>
        </p:txBody>
      </p:sp>
      <p:sp>
        <p:nvSpPr>
          <p:cNvPr id="308" name="Google Shape;308;p38"/>
          <p:cNvSpPr txBox="1"/>
          <p:nvPr/>
        </p:nvSpPr>
        <p:spPr>
          <a:xfrm>
            <a:off x="3172968" y="117043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3172968" y="1170432"/>
            <a:ext cx="27432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3337560" y="12618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CVR</a:t>
            </a:r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3337560" y="192024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Installs / Clicks</a:t>
            </a:r>
            <a:endParaRPr/>
          </a:p>
        </p:txBody>
      </p:sp>
      <p:sp>
        <p:nvSpPr>
          <p:cNvPr id="312" name="Google Shape;312;p38"/>
          <p:cNvSpPr txBox="1"/>
          <p:nvPr/>
        </p:nvSpPr>
        <p:spPr>
          <a:xfrm>
            <a:off x="3337560" y="243230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Conversion rate</a:t>
            </a:r>
            <a:endParaRPr/>
          </a:p>
        </p:txBody>
      </p:sp>
      <p:sp>
        <p:nvSpPr>
          <p:cNvPr id="313" name="Google Shape;313;p38"/>
          <p:cNvSpPr txBox="1"/>
          <p:nvPr/>
        </p:nvSpPr>
        <p:spPr>
          <a:xfrm>
            <a:off x="6025896" y="117043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6025896" y="1170432"/>
            <a:ext cx="274320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6190488" y="12618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CPI</a:t>
            </a:r>
            <a:endParaRPr/>
          </a:p>
        </p:txBody>
      </p:sp>
      <p:sp>
        <p:nvSpPr>
          <p:cNvPr id="316" name="Google Shape;316;p38"/>
          <p:cNvSpPr txBox="1"/>
          <p:nvPr/>
        </p:nvSpPr>
        <p:spPr>
          <a:xfrm>
            <a:off x="6190488" y="192024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Spend / Installs</a:t>
            </a:r>
            <a:endParaRPr/>
          </a:p>
        </p:txBody>
      </p:sp>
      <p:sp>
        <p:nvSpPr>
          <p:cNvPr id="317" name="Google Shape;317;p38"/>
          <p:cNvSpPr txBox="1"/>
          <p:nvPr/>
        </p:nvSpPr>
        <p:spPr>
          <a:xfrm>
            <a:off x="6190488" y="243230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per install</a:t>
            </a:r>
            <a:endParaRPr/>
          </a:p>
        </p:txBody>
      </p:sp>
      <p:sp>
        <p:nvSpPr>
          <p:cNvPr id="318" name="Google Shape;318;p38"/>
          <p:cNvSpPr txBox="1"/>
          <p:nvPr/>
        </p:nvSpPr>
        <p:spPr>
          <a:xfrm>
            <a:off x="320040" y="309067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320040" y="3090672"/>
            <a:ext cx="27432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484632" y="31821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ROAS</a:t>
            </a:r>
            <a:endParaRPr/>
          </a:p>
        </p:txBody>
      </p:sp>
      <p:sp>
        <p:nvSpPr>
          <p:cNvPr id="321" name="Google Shape;321;p38"/>
          <p:cNvSpPr txBox="1"/>
          <p:nvPr/>
        </p:nvSpPr>
        <p:spPr>
          <a:xfrm>
            <a:off x="484632" y="384048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Revenue / Spend</a:t>
            </a:r>
            <a:endParaRPr/>
          </a:p>
        </p:txBody>
      </p:sp>
      <p:sp>
        <p:nvSpPr>
          <p:cNvPr id="322" name="Google Shape;322;p38"/>
          <p:cNvSpPr txBox="1"/>
          <p:nvPr/>
        </p:nvSpPr>
        <p:spPr>
          <a:xfrm>
            <a:off x="484632" y="435254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Return on ad spend</a:t>
            </a:r>
            <a:endParaRPr/>
          </a:p>
        </p:txBody>
      </p:sp>
      <p:sp>
        <p:nvSpPr>
          <p:cNvPr id="323" name="Google Shape;323;p38"/>
          <p:cNvSpPr txBox="1"/>
          <p:nvPr/>
        </p:nvSpPr>
        <p:spPr>
          <a:xfrm>
            <a:off x="3172968" y="309067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3172968" y="3090672"/>
            <a:ext cx="27432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3337560" y="31821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LTV</a:t>
            </a:r>
            <a:endParaRPr/>
          </a:p>
        </p:txBody>
      </p:sp>
      <p:sp>
        <p:nvSpPr>
          <p:cNvPr id="326" name="Google Shape;326;p38"/>
          <p:cNvSpPr txBox="1"/>
          <p:nvPr/>
        </p:nvSpPr>
        <p:spPr>
          <a:xfrm>
            <a:off x="3337560" y="384048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Revenue 1d/7d/28d</a:t>
            </a:r>
            <a:endParaRPr/>
          </a:p>
        </p:txBody>
      </p:sp>
      <p:sp>
        <p:nvSpPr>
          <p:cNvPr id="327" name="Google Shape;327;p38"/>
          <p:cNvSpPr txBox="1"/>
          <p:nvPr/>
        </p:nvSpPr>
        <p:spPr>
          <a:xfrm>
            <a:off x="3337560" y="435254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Lifetime value</a:t>
            </a:r>
            <a:endParaRPr/>
          </a:p>
        </p:txBody>
      </p:sp>
      <p:sp>
        <p:nvSpPr>
          <p:cNvPr id="328" name="Google Shape;328;p38"/>
          <p:cNvSpPr txBox="1"/>
          <p:nvPr/>
        </p:nvSpPr>
        <p:spPr>
          <a:xfrm>
            <a:off x="6025896" y="3090672"/>
            <a:ext cx="2743200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 txBox="1"/>
          <p:nvPr/>
        </p:nvSpPr>
        <p:spPr>
          <a:xfrm>
            <a:off x="6025896" y="3090672"/>
            <a:ext cx="274320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6190488" y="31821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Fatigue</a:t>
            </a:r>
            <a:endParaRPr/>
          </a:p>
        </p:txBody>
      </p:sp>
      <p:sp>
        <p:nvSpPr>
          <p:cNvPr id="331" name="Google Shape;331;p38"/>
          <p:cNvSpPr txBox="1"/>
          <p:nvPr/>
        </p:nvSpPr>
        <p:spPr>
          <a:xfrm>
            <a:off x="6190488" y="3840480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WoW decline &gt; 20%</a:t>
            </a:r>
            <a:endParaRPr/>
          </a:p>
        </p:txBody>
      </p:sp>
      <p:sp>
        <p:nvSpPr>
          <p:cNvPr id="332" name="Google Shape;332;p38"/>
          <p:cNvSpPr txBox="1"/>
          <p:nvPr/>
        </p:nvSpPr>
        <p:spPr>
          <a:xfrm>
            <a:off x="6190488" y="435254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Burn-out auto-detection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Roadmap — Phase 0 &amp; Phase 1</a:t>
            </a:r>
            <a:endParaRPr/>
          </a:p>
        </p:txBody>
      </p:sp>
      <p:sp>
        <p:nvSpPr>
          <p:cNvPr id="338" name="Google Shape;338;p39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9"/>
          <p:cNvSpPr txBox="1"/>
          <p:nvPr/>
        </p:nvSpPr>
        <p:spPr>
          <a:xfrm>
            <a:off x="320040" y="749808"/>
            <a:ext cx="4206240" cy="422452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9"/>
          <p:cNvSpPr txBox="1"/>
          <p:nvPr/>
        </p:nvSpPr>
        <p:spPr>
          <a:xfrm>
            <a:off x="320040" y="749808"/>
            <a:ext cx="4206240" cy="420624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9"/>
          <p:cNvSpPr txBox="1"/>
          <p:nvPr/>
        </p:nvSpPr>
        <p:spPr>
          <a:xfrm>
            <a:off x="457200" y="79552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0 — MVP  ✅  COMPLETE</a:t>
            </a:r>
            <a:endParaRPr/>
          </a:p>
        </p:txBody>
      </p:sp>
      <p:sp>
        <p:nvSpPr>
          <p:cNvPr id="342" name="Google Shape;342;p39"/>
          <p:cNvSpPr txBox="1"/>
          <p:nvPr/>
        </p:nvSpPr>
        <p:spPr>
          <a:xfrm>
            <a:off x="457200" y="1261872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Database models &amp; REST API</a:t>
            </a:r>
            <a:endParaRPr/>
          </a:p>
        </p:txBody>
      </p:sp>
      <p:sp>
        <p:nvSpPr>
          <p:cNvPr id="343" name="Google Shape;343;p39"/>
          <p:cNvSpPr txBox="1"/>
          <p:nvPr/>
        </p:nvSpPr>
        <p:spPr>
          <a:xfrm>
            <a:off x="457200" y="1709928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Facebook connector</a:t>
            </a:r>
            <a:endParaRPr/>
          </a:p>
        </p:txBody>
      </p:sp>
      <p:sp>
        <p:nvSpPr>
          <p:cNvPr id="344" name="Google Shape;344;p39"/>
          <p:cNvSpPr txBox="1"/>
          <p:nvPr/>
        </p:nvSpPr>
        <p:spPr>
          <a:xfrm>
            <a:off x="457200" y="2157984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Perceptual hashing &amp; deduplication</a:t>
            </a:r>
            <a:endParaRPr/>
          </a:p>
        </p:txBody>
      </p:sp>
      <p:sp>
        <p:nvSpPr>
          <p:cNvPr id="345" name="Google Shape;345;p39"/>
          <p:cNvSpPr txBox="1"/>
          <p:nvPr/>
        </p:nvSpPr>
        <p:spPr>
          <a:xfrm>
            <a:off x="457200" y="2606039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Thompson Sampling MAB</a:t>
            </a:r>
            <a:endParaRPr/>
          </a:p>
        </p:txBody>
      </p:sp>
      <p:sp>
        <p:nvSpPr>
          <p:cNvPr id="346" name="Google Shape;346;p39"/>
          <p:cNvSpPr txBox="1"/>
          <p:nvPr/>
        </p:nvSpPr>
        <p:spPr>
          <a:xfrm>
            <a:off x="457200" y="3054096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Epsilon-Greedy &amp; UCB</a:t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457200" y="3502152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A/B testing (Z-test &amp; t-test)</a:t>
            </a:r>
            <a:endParaRPr/>
          </a:p>
        </p:txBody>
      </p:sp>
      <p:sp>
        <p:nvSpPr>
          <p:cNvPr id="348" name="Google Shape;348;p39"/>
          <p:cNvSpPr txBox="1"/>
          <p:nvPr/>
        </p:nvSpPr>
        <p:spPr>
          <a:xfrm>
            <a:off x="457200" y="3950208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Analytics endpoints (CTR/CVR/ROAS)</a:t>
            </a:r>
            <a:endParaRPr/>
          </a:p>
        </p:txBody>
      </p:sp>
      <p:sp>
        <p:nvSpPr>
          <p:cNvPr id="349" name="Google Shape;349;p39"/>
          <p:cNvSpPr txBox="1"/>
          <p:nvPr/>
        </p:nvSpPr>
        <p:spPr>
          <a:xfrm>
            <a:off x="457200" y="4398264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✅  Docker Compose one-command setup</a:t>
            </a:r>
            <a:endParaRPr/>
          </a:p>
        </p:txBody>
      </p:sp>
      <p:sp>
        <p:nvSpPr>
          <p:cNvPr id="350" name="Google Shape;350;p39"/>
          <p:cNvSpPr txBox="1"/>
          <p:nvPr/>
        </p:nvSpPr>
        <p:spPr>
          <a:xfrm>
            <a:off x="4663440" y="749808"/>
            <a:ext cx="4206240" cy="4224528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4663440" y="749808"/>
            <a:ext cx="4206240" cy="420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4800600" y="79552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 — Production  🔨  8-16 wks</a:t>
            </a:r>
            <a:endParaRPr/>
          </a:p>
        </p:txBody>
      </p:sp>
      <p:sp>
        <p:nvSpPr>
          <p:cNvPr id="353" name="Google Shape;353;p39"/>
          <p:cNvSpPr txBox="1"/>
          <p:nvPr/>
        </p:nvSpPr>
        <p:spPr>
          <a:xfrm>
            <a:off x="4800600" y="1261872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Google Ads full connector</a:t>
            </a:r>
            <a:endParaRPr/>
          </a:p>
        </p:txBody>
      </p:sp>
      <p:sp>
        <p:nvSpPr>
          <p:cNvPr id="354" name="Google Shape;354;p39"/>
          <p:cNvSpPr txBox="1"/>
          <p:nvPr/>
        </p:nvSpPr>
        <p:spPr>
          <a:xfrm>
            <a:off x="4800600" y="1709928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TikTok Marketing API</a:t>
            </a:r>
            <a:endParaRPr/>
          </a:p>
        </p:txBody>
      </p:sp>
      <p:sp>
        <p:nvSpPr>
          <p:cNvPr id="355" name="Google Shape;355;p39"/>
          <p:cNvSpPr txBox="1"/>
          <p:nvPr/>
        </p:nvSpPr>
        <p:spPr>
          <a:xfrm>
            <a:off x="4800600" y="2157984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AppsFlyer data ingestion</a:t>
            </a:r>
            <a:endParaRPr/>
          </a:p>
        </p:txBody>
      </p:sp>
      <p:sp>
        <p:nvSpPr>
          <p:cNvPr id="356" name="Google Shape;356;p39"/>
          <p:cNvSpPr txBox="1"/>
          <p:nvPr/>
        </p:nvSpPr>
        <p:spPr>
          <a:xfrm>
            <a:off x="4800600" y="2606039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Vision features (ResNet)</a:t>
            </a:r>
            <a:endParaRPr/>
          </a:p>
        </p:txBody>
      </p:sp>
      <p:sp>
        <p:nvSpPr>
          <p:cNvPr id="357" name="Google Shape;357;p39"/>
          <p:cNvSpPr txBox="1"/>
          <p:nvPr/>
        </p:nvSpPr>
        <p:spPr>
          <a:xfrm>
            <a:off x="4800600" y="3054096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OCR pipeline (Tesseract)</a:t>
            </a:r>
            <a:endParaRPr/>
          </a:p>
        </p:txBody>
      </p:sp>
      <p:sp>
        <p:nvSpPr>
          <p:cNvPr id="358" name="Google Shape;358;p39"/>
          <p:cNvSpPr txBox="1"/>
          <p:nvPr/>
        </p:nvSpPr>
        <p:spPr>
          <a:xfrm>
            <a:off x="4800600" y="3502152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NLP for ad copy (BERT)</a:t>
            </a:r>
            <a:endParaRPr/>
          </a:p>
        </p:txBody>
      </p:sp>
      <p:sp>
        <p:nvSpPr>
          <p:cNvPr id="359" name="Google Shape;359;p39"/>
          <p:cNvSpPr txBox="1"/>
          <p:nvPr/>
        </p:nvSpPr>
        <p:spPr>
          <a:xfrm>
            <a:off x="4800600" y="3950208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Real-time Kafka pipeline</a:t>
            </a:r>
            <a:endParaRPr/>
          </a:p>
        </p:txBody>
      </p:sp>
      <p:sp>
        <p:nvSpPr>
          <p:cNvPr id="360" name="Google Shape;360;p39"/>
          <p:cNvSpPr txBox="1"/>
          <p:nvPr/>
        </p:nvSpPr>
        <p:spPr>
          <a:xfrm>
            <a:off x="4800600" y="4398264"/>
            <a:ext cx="39319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⬜  React dashboard UI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Roadmap — Phase 2  (Advanced / Continuous)</a:t>
            </a:r>
            <a:endParaRPr/>
          </a:p>
        </p:txBody>
      </p:sp>
      <p:sp>
        <p:nvSpPr>
          <p:cNvPr id="366" name="Google Shape;366;p40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0"/>
          <p:cNvSpPr txBox="1"/>
          <p:nvPr/>
        </p:nvSpPr>
        <p:spPr>
          <a:xfrm>
            <a:off x="320040" y="804672"/>
            <a:ext cx="4251960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0"/>
          <p:cNvSpPr txBox="1"/>
          <p:nvPr/>
        </p:nvSpPr>
        <p:spPr>
          <a:xfrm>
            <a:off x="320040" y="804672"/>
            <a:ext cx="4251960" cy="4572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0"/>
          <p:cNvSpPr txBox="1"/>
          <p:nvPr/>
        </p:nvSpPr>
        <p:spPr>
          <a:xfrm>
            <a:off x="484632" y="914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Advanced ML</a:t>
            </a:r>
            <a:endParaRPr/>
          </a:p>
        </p:txBody>
      </p:sp>
      <p:sp>
        <p:nvSpPr>
          <p:cNvPr id="370" name="Google Shape;370;p40"/>
          <p:cNvSpPr txBox="1"/>
          <p:nvPr/>
        </p:nvSpPr>
        <p:spPr>
          <a:xfrm>
            <a:off x="484632" y="14630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Uplift modelling — predict incremental impact</a:t>
            </a:r>
            <a:endParaRPr/>
          </a:p>
        </p:txBody>
      </p:sp>
      <p:sp>
        <p:nvSpPr>
          <p:cNvPr id="371" name="Google Shape;371;p40"/>
          <p:cNvSpPr txBox="1"/>
          <p:nvPr/>
        </p:nvSpPr>
        <p:spPr>
          <a:xfrm>
            <a:off x="484632" y="201168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Contextual bandits by geo &amp; device</a:t>
            </a:r>
            <a:endParaRPr/>
          </a:p>
        </p:txBody>
      </p:sp>
      <p:sp>
        <p:nvSpPr>
          <p:cNvPr id="372" name="Google Shape;372;p40"/>
          <p:cNvSpPr txBox="1"/>
          <p:nvPr/>
        </p:nvSpPr>
        <p:spPr>
          <a:xfrm>
            <a:off x="4754879" y="804672"/>
            <a:ext cx="4251960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0"/>
          <p:cNvSpPr txBox="1"/>
          <p:nvPr/>
        </p:nvSpPr>
        <p:spPr>
          <a:xfrm>
            <a:off x="4754879" y="804672"/>
            <a:ext cx="425196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4919471" y="914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Real-time Bidding</a:t>
            </a:r>
            <a:endParaRPr/>
          </a:p>
        </p:txBody>
      </p:sp>
      <p:sp>
        <p:nvSpPr>
          <p:cNvPr id="375" name="Google Shape;375;p40"/>
          <p:cNvSpPr txBox="1"/>
          <p:nvPr/>
        </p:nvSpPr>
        <p:spPr>
          <a:xfrm>
            <a:off x="4919471" y="14630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DSP integration for live bid adjustments</a:t>
            </a:r>
            <a:endParaRPr/>
          </a:p>
        </p:txBody>
      </p:sp>
      <p:sp>
        <p:nvSpPr>
          <p:cNvPr id="376" name="Google Shape;376;p40"/>
          <p:cNvSpPr txBox="1"/>
          <p:nvPr/>
        </p:nvSpPr>
        <p:spPr>
          <a:xfrm>
            <a:off x="4919471" y="201168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Dynamic Creative Optimisation (DCO)</a:t>
            </a:r>
            <a:endParaRPr/>
          </a:p>
        </p:txBody>
      </p:sp>
      <p:sp>
        <p:nvSpPr>
          <p:cNvPr id="377" name="Google Shape;377;p40"/>
          <p:cNvSpPr txBox="1"/>
          <p:nvPr/>
        </p:nvSpPr>
        <p:spPr>
          <a:xfrm>
            <a:off x="320040" y="2999232"/>
            <a:ext cx="4251960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0"/>
          <p:cNvSpPr txBox="1"/>
          <p:nvPr/>
        </p:nvSpPr>
        <p:spPr>
          <a:xfrm>
            <a:off x="320040" y="2999232"/>
            <a:ext cx="4251960" cy="4572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484632" y="3108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Privacy &amp; Compliance</a:t>
            </a:r>
            <a:endParaRPr/>
          </a:p>
        </p:txBody>
      </p:sp>
      <p:sp>
        <p:nvSpPr>
          <p:cNvPr id="380" name="Google Shape;380;p40"/>
          <p:cNvSpPr txBox="1"/>
          <p:nvPr/>
        </p:nvSpPr>
        <p:spPr>
          <a:xfrm>
            <a:off x="484632" y="36576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Advanced SKAdNetwork aggregation</a:t>
            </a:r>
            <a:endParaRPr/>
          </a:p>
        </p:txBody>
      </p:sp>
      <p:sp>
        <p:nvSpPr>
          <p:cNvPr id="381" name="Google Shape;381;p40"/>
          <p:cNvSpPr txBox="1"/>
          <p:nvPr/>
        </p:nvSpPr>
        <p:spPr>
          <a:xfrm>
            <a:off x="484632" y="42062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GDPR / CCPA compliance tooling</a:t>
            </a:r>
            <a:endParaRPr/>
          </a:p>
        </p:txBody>
      </p:sp>
      <p:sp>
        <p:nvSpPr>
          <p:cNvPr id="382" name="Google Shape;382;p40"/>
          <p:cNvSpPr txBox="1"/>
          <p:nvPr/>
        </p:nvSpPr>
        <p:spPr>
          <a:xfrm>
            <a:off x="4754879" y="2999232"/>
            <a:ext cx="4251960" cy="20116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4754879" y="2999232"/>
            <a:ext cx="4251960" cy="4572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4919471" y="3108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/>
          </a:p>
        </p:txBody>
      </p:sp>
      <p:sp>
        <p:nvSpPr>
          <p:cNvPr id="385" name="Google Shape;385;p40"/>
          <p:cNvSpPr txBox="1"/>
          <p:nvPr/>
        </p:nvSpPr>
        <p:spPr>
          <a:xfrm>
            <a:off x="4919471" y="36576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Kubernetes horizontal auto-scaling</a:t>
            </a:r>
            <a:endParaRPr/>
          </a:p>
        </p:txBody>
      </p:sp>
      <p:sp>
        <p:nvSpPr>
          <p:cNvPr id="386" name="Google Shape;386;p40"/>
          <p:cNvSpPr txBox="1"/>
          <p:nvPr/>
        </p:nvSpPr>
        <p:spPr>
          <a:xfrm>
            <a:off x="4919471" y="42062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Global CDN + CI/CD pipeline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</p:txBody>
      </p:sp>
      <p:sp>
        <p:nvSpPr>
          <p:cNvPr id="392" name="Google Shape;392;p41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1"/>
          <p:cNvSpPr txBox="1"/>
          <p:nvPr/>
        </p:nvSpPr>
        <p:spPr>
          <a:xfrm>
            <a:off x="320040" y="777240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320040" y="777240"/>
            <a:ext cx="274320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457200" y="86868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API &amp; Backend</a:t>
            </a:r>
            <a:endParaRPr/>
          </a:p>
        </p:txBody>
      </p:sp>
      <p:sp>
        <p:nvSpPr>
          <p:cNvPr id="396" name="Google Shape;396;p41"/>
          <p:cNvSpPr txBox="1"/>
          <p:nvPr/>
        </p:nvSpPr>
        <p:spPr>
          <a:xfrm>
            <a:off x="457200" y="1399032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Python 3.11  •  FastAPI</a:t>
            </a:r>
            <a:endParaRPr/>
          </a:p>
        </p:txBody>
      </p:sp>
      <p:sp>
        <p:nvSpPr>
          <p:cNvPr id="397" name="Google Shape;397;p41"/>
          <p:cNvSpPr txBox="1"/>
          <p:nvPr/>
        </p:nvSpPr>
        <p:spPr>
          <a:xfrm>
            <a:off x="457200" y="196596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SQLAlchemy  •  PostgreSQL 15</a:t>
            </a:r>
            <a:endParaRPr/>
          </a:p>
        </p:txBody>
      </p:sp>
      <p:sp>
        <p:nvSpPr>
          <p:cNvPr id="398" name="Google Shape;398;p41"/>
          <p:cNvSpPr txBox="1"/>
          <p:nvPr/>
        </p:nvSpPr>
        <p:spPr>
          <a:xfrm>
            <a:off x="3172968" y="777240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1"/>
          <p:cNvSpPr txBox="1"/>
          <p:nvPr/>
        </p:nvSpPr>
        <p:spPr>
          <a:xfrm>
            <a:off x="3172968" y="777240"/>
            <a:ext cx="2743200" cy="4572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3310128" y="86868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</p:txBody>
      </p:sp>
      <p:sp>
        <p:nvSpPr>
          <p:cNvPr id="401" name="Google Shape;401;p41"/>
          <p:cNvSpPr txBox="1"/>
          <p:nvPr/>
        </p:nvSpPr>
        <p:spPr>
          <a:xfrm>
            <a:off x="3310128" y="1399032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Apache Kafka  •  Zookeeper</a:t>
            </a:r>
            <a:endParaRPr/>
          </a:p>
        </p:txBody>
      </p:sp>
      <p:sp>
        <p:nvSpPr>
          <p:cNvPr id="402" name="Google Shape;402;p41"/>
          <p:cNvSpPr txBox="1"/>
          <p:nvPr/>
        </p:nvSpPr>
        <p:spPr>
          <a:xfrm>
            <a:off x="3310128" y="196596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Kinesis (Phase 1)</a:t>
            </a:r>
            <a:endParaRPr/>
          </a:p>
        </p:txBody>
      </p:sp>
      <p:sp>
        <p:nvSpPr>
          <p:cNvPr id="403" name="Google Shape;403;p41"/>
          <p:cNvSpPr txBox="1"/>
          <p:nvPr/>
        </p:nvSpPr>
        <p:spPr>
          <a:xfrm>
            <a:off x="6025896" y="2880360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6025896" y="2880360"/>
            <a:ext cx="2743200" cy="4572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6163056" y="297180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ML / Stats</a:t>
            </a:r>
            <a:endParaRPr/>
          </a:p>
        </p:txBody>
      </p:sp>
      <p:sp>
        <p:nvSpPr>
          <p:cNvPr id="406" name="Google Shape;406;p41"/>
          <p:cNvSpPr txBox="1"/>
          <p:nvPr/>
        </p:nvSpPr>
        <p:spPr>
          <a:xfrm>
            <a:off x="6163056" y="3502152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Thompson Sampling  •  SciPy</a:t>
            </a:r>
            <a:endParaRPr/>
          </a:p>
        </p:txBody>
      </p:sp>
      <p:sp>
        <p:nvSpPr>
          <p:cNvPr id="407" name="Google Shape;407;p41"/>
          <p:cNvSpPr txBox="1"/>
          <p:nvPr/>
        </p:nvSpPr>
        <p:spPr>
          <a:xfrm>
            <a:off x="6163056" y="406908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scikit-learn  •  PyTorch</a:t>
            </a:r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320040" y="2880360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 txBox="1"/>
          <p:nvPr/>
        </p:nvSpPr>
        <p:spPr>
          <a:xfrm>
            <a:off x="320040" y="2880360"/>
            <a:ext cx="2743200" cy="4572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457200" y="297180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Vision &amp; NLP</a:t>
            </a:r>
            <a:endParaRPr/>
          </a:p>
        </p:txBody>
      </p:sp>
      <p:sp>
        <p:nvSpPr>
          <p:cNvPr id="411" name="Google Shape;411;p41"/>
          <p:cNvSpPr txBox="1"/>
          <p:nvPr/>
        </p:nvSpPr>
        <p:spPr>
          <a:xfrm>
            <a:off x="457200" y="3502152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OpenCV  •  Pillow  •  imagehash</a:t>
            </a:r>
            <a:endParaRPr/>
          </a:p>
        </p:txBody>
      </p:sp>
      <p:sp>
        <p:nvSpPr>
          <p:cNvPr id="412" name="Google Shape;412;p41"/>
          <p:cNvSpPr txBox="1"/>
          <p:nvPr/>
        </p:nvSpPr>
        <p:spPr>
          <a:xfrm>
            <a:off x="457200" y="406908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Tesseract OCR  •  BERT</a:t>
            </a:r>
            <a:endParaRPr/>
          </a:p>
        </p:txBody>
      </p:sp>
      <p:sp>
        <p:nvSpPr>
          <p:cNvPr id="413" name="Google Shape;413;p41"/>
          <p:cNvSpPr txBox="1"/>
          <p:nvPr/>
        </p:nvSpPr>
        <p:spPr>
          <a:xfrm>
            <a:off x="3163824" y="2880360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3163824" y="2880360"/>
            <a:ext cx="274320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3300984" y="297180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3300984" y="3502152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Docker / Docker Compose</a:t>
            </a:r>
            <a:endParaRPr/>
          </a:p>
        </p:txBody>
      </p:sp>
      <p:sp>
        <p:nvSpPr>
          <p:cNvPr id="417" name="Google Shape;417;p41"/>
          <p:cNvSpPr txBox="1"/>
          <p:nvPr/>
        </p:nvSpPr>
        <p:spPr>
          <a:xfrm>
            <a:off x="3300984" y="406908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Redis 7  •  S3  •  BigQuery</a:t>
            </a:r>
            <a:endParaRPr/>
          </a:p>
        </p:txBody>
      </p:sp>
      <p:sp>
        <p:nvSpPr>
          <p:cNvPr id="418" name="Google Shape;418;p41"/>
          <p:cNvSpPr txBox="1"/>
          <p:nvPr/>
        </p:nvSpPr>
        <p:spPr>
          <a:xfrm>
            <a:off x="6025896" y="801349"/>
            <a:ext cx="2743200" cy="19202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6025896" y="801349"/>
            <a:ext cx="2743200" cy="4572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6163056" y="892789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Observability</a:t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6163056" y="1423141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Prometheus / Grafana</a:t>
            </a:r>
            <a:endParaRPr/>
          </a:p>
        </p:txBody>
      </p:sp>
      <p:sp>
        <p:nvSpPr>
          <p:cNvPr id="422" name="Google Shape;422;p41"/>
          <p:cNvSpPr txBox="1"/>
          <p:nvPr/>
        </p:nvSpPr>
        <p:spPr>
          <a:xfrm>
            <a:off x="6163056" y="1990069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Sentry  •  ELK  •  Airflow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Current Status &amp; Performance Targets</a:t>
            </a:r>
            <a:endParaRPr/>
          </a:p>
        </p:txBody>
      </p:sp>
      <p:sp>
        <p:nvSpPr>
          <p:cNvPr id="428" name="Google Shape;428;p42"/>
          <p:cNvSpPr txBox="1"/>
          <p:nvPr/>
        </p:nvSpPr>
        <p:spPr>
          <a:xfrm>
            <a:off x="320040" y="658368"/>
            <a:ext cx="8503920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 txBox="1"/>
          <p:nvPr/>
        </p:nvSpPr>
        <p:spPr>
          <a:xfrm>
            <a:off x="320040" y="749808"/>
            <a:ext cx="4206240" cy="29718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2"/>
          <p:cNvSpPr txBox="1"/>
          <p:nvPr/>
        </p:nvSpPr>
        <p:spPr>
          <a:xfrm>
            <a:off x="320040" y="749808"/>
            <a:ext cx="4206240" cy="4572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75488" y="84124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✅  MVP — Complete</a:t>
            </a:r>
            <a:endParaRPr/>
          </a:p>
        </p:txBody>
      </p:sp>
      <p:sp>
        <p:nvSpPr>
          <p:cNvPr id="432" name="Google Shape;432;p42"/>
          <p:cNvSpPr txBox="1"/>
          <p:nvPr/>
        </p:nvSpPr>
        <p:spPr>
          <a:xfrm>
            <a:off x="475488" y="138988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Core data models &amp; REST API</a:t>
            </a:r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475488" y="18288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Facebook ingestion connector</a:t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475488" y="22677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Perceptual hashing &amp; deduplication</a:t>
            </a: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475488" y="27066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Thompson Sampling (production-ready)</a:t>
            </a:r>
            <a:endParaRPr/>
          </a:p>
        </p:txBody>
      </p:sp>
      <p:sp>
        <p:nvSpPr>
          <p:cNvPr id="436" name="Google Shape;436;p42"/>
          <p:cNvSpPr txBox="1"/>
          <p:nvPr/>
        </p:nvSpPr>
        <p:spPr>
          <a:xfrm>
            <a:off x="475488" y="314553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•  Analytics endpoints (CTR, CVR, ROAS)</a:t>
            </a:r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4663440" y="749808"/>
            <a:ext cx="4206240" cy="29718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2"/>
          <p:cNvSpPr txBox="1"/>
          <p:nvPr/>
        </p:nvSpPr>
        <p:spPr>
          <a:xfrm>
            <a:off x="4663440" y="749808"/>
            <a:ext cx="4206240" cy="4572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2"/>
          <p:cNvSpPr txBox="1"/>
          <p:nvPr/>
        </p:nvSpPr>
        <p:spPr>
          <a:xfrm>
            <a:off x="4828032" y="84124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⚡  Performance Targets</a:t>
            </a:r>
            <a:endParaRPr/>
          </a:p>
        </p:txBody>
      </p:sp>
      <p:sp>
        <p:nvSpPr>
          <p:cNvPr id="440" name="Google Shape;440;p42"/>
          <p:cNvSpPr txBox="1"/>
          <p:nvPr/>
        </p:nvSpPr>
        <p:spPr>
          <a:xfrm>
            <a:off x="4828032" y="138988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&lt; 50 ms      API creative selection</a:t>
            </a:r>
            <a:endParaRPr/>
          </a:p>
        </p:txBody>
      </p:sp>
      <p:sp>
        <p:nvSpPr>
          <p:cNvPr id="441" name="Google Shape;441;p42"/>
          <p:cNvSpPr txBox="1"/>
          <p:nvPr/>
        </p:nvSpPr>
        <p:spPr>
          <a:xfrm>
            <a:off x="4828032" y="18288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10,000+ /s   Throughput (scaled)</a:t>
            </a:r>
            <a:endParaRPr/>
          </a:p>
        </p:txBody>
      </p:sp>
      <p:sp>
        <p:nvSpPr>
          <p:cNvPr id="442" name="Google Shape;442;p42"/>
          <p:cNvSpPr txBox="1"/>
          <p:nvPr/>
        </p:nvSpPr>
        <p:spPr>
          <a:xfrm>
            <a:off x="4828032" y="22677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100M+ /day   Events (partitioned DB)</a:t>
            </a:r>
            <a:endParaRPr/>
          </a:p>
        </p:txBody>
      </p:sp>
      <p:sp>
        <p:nvSpPr>
          <p:cNvPr id="443" name="Google Shape;443;p42"/>
          <p:cNvSpPr txBox="1"/>
          <p:nvPr/>
        </p:nvSpPr>
        <p:spPr>
          <a:xfrm>
            <a:off x="4828032" y="27066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500–1,000    Impressions to converge</a:t>
            </a:r>
            <a:endParaRPr/>
          </a:p>
        </p:txBody>
      </p:sp>
      <p:sp>
        <p:nvSpPr>
          <p:cNvPr id="444" name="Google Shape;444;p42"/>
          <p:cNvSpPr txBox="1"/>
          <p:nvPr/>
        </p:nvSpPr>
        <p:spPr>
          <a:xfrm>
            <a:off x="4828032" y="314553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+30–40%      CVR vs. 50/50 A/B</a:t>
            </a:r>
            <a:endParaRPr/>
          </a:p>
        </p:txBody>
      </p:sp>
      <p:sp>
        <p:nvSpPr>
          <p:cNvPr id="445" name="Google Shape;445;p42"/>
          <p:cNvSpPr txBox="1"/>
          <p:nvPr/>
        </p:nvSpPr>
        <p:spPr>
          <a:xfrm>
            <a:off x="320040" y="3886200"/>
            <a:ext cx="8549640" cy="10972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2"/>
          <p:cNvSpPr txBox="1"/>
          <p:nvPr/>
        </p:nvSpPr>
        <p:spPr>
          <a:xfrm>
            <a:off x="320040" y="3886200"/>
            <a:ext cx="854964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2"/>
          <p:cNvSpPr txBox="1"/>
          <p:nvPr/>
        </p:nvSpPr>
        <p:spPr>
          <a:xfrm>
            <a:off x="475488" y="3977639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Next Steps — Phase 1  (8-16 weeks, 2-3 engineers)</a:t>
            </a:r>
            <a:endParaRPr/>
          </a:p>
        </p:txBody>
      </p:sp>
      <p:sp>
        <p:nvSpPr>
          <p:cNvPr id="448" name="Google Shape;448;p42"/>
          <p:cNvSpPr txBox="1"/>
          <p:nvPr/>
        </p:nvSpPr>
        <p:spPr>
          <a:xfrm>
            <a:off x="475488" y="45262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▸  Complete Google / TikTok / AppsFlyer connectors</a:t>
            </a:r>
            <a:endParaRPr/>
          </a:p>
        </p:txBody>
      </p:sp>
      <p:sp>
        <p:nvSpPr>
          <p:cNvPr id="449" name="Google Shape;449;p42"/>
          <p:cNvSpPr txBox="1"/>
          <p:nvPr/>
        </p:nvSpPr>
        <p:spPr>
          <a:xfrm>
            <a:off x="4791456" y="45262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▸  Build Vision + NLP + OCR feature pipeline</a:t>
            </a:r>
            <a:endParaRPr/>
          </a:p>
        </p:txBody>
      </p:sp>
      <p:sp>
        <p:nvSpPr>
          <p:cNvPr id="450" name="Google Shape;450;p42"/>
          <p:cNvSpPr txBox="1"/>
          <p:nvPr/>
        </p:nvSpPr>
        <p:spPr>
          <a:xfrm>
            <a:off x="454608" y="425196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▸  Implement attribution engine (full funnel)</a:t>
            </a:r>
            <a:endParaRPr/>
          </a:p>
        </p:txBody>
      </p:sp>
      <p:sp>
        <p:nvSpPr>
          <p:cNvPr id="451" name="Google Shape;451;p42"/>
          <p:cNvSpPr txBox="1"/>
          <p:nvPr/>
        </p:nvSpPr>
        <p:spPr>
          <a:xfrm>
            <a:off x="4770576" y="4219956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▸  Develop React dashboard with real-time charts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4CAA"/>
            </a:gs>
            <a:gs pos="100000">
              <a:srgbClr val="00175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/>
          <p:nvPr/>
        </p:nvSpPr>
        <p:spPr>
          <a:xfrm>
            <a:off x="640080" y="77724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Creative Optimization Platform</a:t>
            </a:r>
            <a:endParaRPr/>
          </a:p>
        </p:txBody>
      </p:sp>
      <p:sp>
        <p:nvSpPr>
          <p:cNvPr id="457" name="Google Shape;457;p43"/>
          <p:cNvSpPr txBox="1"/>
          <p:nvPr/>
        </p:nvSpPr>
        <p:spPr>
          <a:xfrm>
            <a:off x="640080" y="182880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Spend less.  Earn more.  Optimise automatically.</a:t>
            </a:r>
            <a:endParaRPr/>
          </a:p>
        </p:txBody>
      </p:sp>
      <p:sp>
        <p:nvSpPr>
          <p:cNvPr id="458" name="Google Shape;458;p43"/>
          <p:cNvSpPr txBox="1"/>
          <p:nvPr/>
        </p:nvSpPr>
        <p:spPr>
          <a:xfrm>
            <a:off x="2011680" y="2514600"/>
            <a:ext cx="5120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 txBox="1"/>
          <p:nvPr/>
        </p:nvSpPr>
        <p:spPr>
          <a:xfrm>
            <a:off x="640080" y="26974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API Docs:  http://localhost:8000/docs</a:t>
            </a:r>
            <a:endParaRPr/>
          </a:p>
        </p:txBody>
      </p:sp>
      <p:sp>
        <p:nvSpPr>
          <p:cNvPr id="460" name="Google Shape;460;p43"/>
          <p:cNvSpPr txBox="1"/>
          <p:nvPr/>
        </p:nvSpPr>
        <p:spPr>
          <a:xfrm>
            <a:off x="640080" y="32004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Status:  MVP Complete ✅   |   Phase 1 ready to begin</a:t>
            </a:r>
            <a:endParaRPr/>
          </a:p>
        </p:txBody>
      </p:sp>
      <p:sp>
        <p:nvSpPr>
          <p:cNvPr id="461" name="Google Shape;461;p43"/>
          <p:cNvSpPr txBox="1"/>
          <p:nvPr/>
        </p:nvSpPr>
        <p:spPr>
          <a:xfrm>
            <a:off x="640080" y="37033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Arial"/>
                <a:ea typeface="Arial"/>
                <a:cs typeface="Arial"/>
                <a:sym typeface="Arial"/>
              </a:rPr>
              <a:t>Timeline:  Phase 1 = 8–16 weeks  |  2–3 engineers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>
            <p:ph type="title"/>
          </p:nvPr>
        </p:nvSpPr>
        <p:spPr>
          <a:xfrm>
            <a:off x="555309" y="2399689"/>
            <a:ext cx="8033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2500"/>
              <a:t>Images</a:t>
            </a:r>
            <a:endParaRPr b="1" sz="25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800">
                <a:solidFill>
                  <a:srgbClr val="0000FF"/>
                </a:solidFill>
              </a:rPr>
              <a:t>(Sample AF images from Internet)</a:t>
            </a:r>
            <a:endParaRPr b="1"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5"/>
          <p:cNvSpPr txBox="1"/>
          <p:nvPr>
            <p:ph idx="1" type="body"/>
          </p:nvPr>
        </p:nvSpPr>
        <p:spPr>
          <a:xfrm>
            <a:off x="549274" y="919847"/>
            <a:ext cx="8032500" cy="17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25" y="474150"/>
            <a:ext cx="6432499" cy="436374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5"/>
          <p:cNvSpPr txBox="1"/>
          <p:nvPr/>
        </p:nvSpPr>
        <p:spPr>
          <a:xfrm>
            <a:off x="0" y="0"/>
            <a:ext cx="60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https://youtu.be/l5CkrU22zZI?si=e-_lxSMBAmzw4ie4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6"/>
          <p:cNvSpPr txBox="1"/>
          <p:nvPr>
            <p:ph idx="1" type="body"/>
          </p:nvPr>
        </p:nvSpPr>
        <p:spPr>
          <a:xfrm>
            <a:off x="549274" y="919847"/>
            <a:ext cx="8032500" cy="17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1887"/>
            <a:ext cx="8033398" cy="469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7"/>
          <p:cNvSpPr txBox="1"/>
          <p:nvPr>
            <p:ph idx="1" type="body"/>
          </p:nvPr>
        </p:nvSpPr>
        <p:spPr>
          <a:xfrm>
            <a:off x="197250" y="919850"/>
            <a:ext cx="1881300" cy="18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Analyse opening scenes or even the characters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488" name="Google Shape;4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700" y="704201"/>
            <a:ext cx="6569723" cy="330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8"/>
          <p:cNvSpPr txBox="1"/>
          <p:nvPr>
            <p:ph idx="1" type="body"/>
          </p:nvPr>
        </p:nvSpPr>
        <p:spPr>
          <a:xfrm>
            <a:off x="2" y="926900"/>
            <a:ext cx="3400800" cy="17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https://support.appsflyer.com/hc/en-us/articles/18564718580625-Creative-Optimization-guide?utm_source=chatgpt.com</a:t>
            </a:r>
            <a:r>
              <a:rPr lang="en-US"/>
              <a:t> </a:t>
            </a:r>
            <a:endParaRPr/>
          </a:p>
        </p:txBody>
      </p:sp>
      <p:pic>
        <p:nvPicPr>
          <p:cNvPr id="495" name="Google Shape;49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925" y="408450"/>
            <a:ext cx="4835899" cy="444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9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"/>
          <p:cNvSpPr txBox="1"/>
          <p:nvPr>
            <p:ph idx="1" type="body"/>
          </p:nvPr>
        </p:nvSpPr>
        <p:spPr>
          <a:xfrm>
            <a:off x="549274" y="919847"/>
            <a:ext cx="8032500" cy="17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775" y="1310950"/>
            <a:ext cx="4398450" cy="295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0"/>
          <p:cNvSpPr txBox="1"/>
          <p:nvPr>
            <p:ph type="title"/>
          </p:nvPr>
        </p:nvSpPr>
        <p:spPr>
          <a:xfrm>
            <a:off x="548509" y="474139"/>
            <a:ext cx="80334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0"/>
          <p:cNvSpPr txBox="1"/>
          <p:nvPr>
            <p:ph idx="1" type="body"/>
          </p:nvPr>
        </p:nvSpPr>
        <p:spPr>
          <a:xfrm>
            <a:off x="549274" y="919847"/>
            <a:ext cx="8032500" cy="17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